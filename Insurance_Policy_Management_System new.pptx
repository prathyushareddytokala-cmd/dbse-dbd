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62" r:id="rId4"/>
    <p:sldId id="263" r:id="rId5"/>
    <p:sldId id="258" r:id="rId6"/>
    <p:sldId id="259" r:id="rId7"/>
    <p:sldId id="260" r:id="rId8"/>
    <p:sldId id="261" r:id="rId9"/>
    <p:sldId id="264"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A82B1AAC-A364-4AF6-A288-F8D30FF5AC15}">
          <p14:sldIdLst>
            <p14:sldId id="256"/>
            <p14:sldId id="257"/>
            <p14:sldId id="262"/>
            <p14:sldId id="263"/>
            <p14:sldId id="258"/>
            <p14:sldId id="259"/>
            <p14:sldId id="260"/>
            <p14:sldId id="261"/>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113901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6.png"/><Relationship Id="rId7"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7.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9692640" y="-1463040"/>
            <a:ext cx="4754880" cy="4754880"/>
          </a:xfrm>
          <a:prstGeom prst="ellipse">
            <a:avLst/>
          </a:prstGeom>
          <a:solidFill>
            <a:srgbClr val="2C3A8C"/>
          </a:solidFill>
          <a:ln/>
        </p:spPr>
      </p:sp>
      <p:sp>
        <p:nvSpPr>
          <p:cNvPr id="3" name="Shape 1"/>
          <p:cNvSpPr/>
          <p:nvPr/>
        </p:nvSpPr>
        <p:spPr>
          <a:xfrm>
            <a:off x="10881360" y="4663440"/>
            <a:ext cx="2743200" cy="2743200"/>
          </a:xfrm>
          <a:prstGeom prst="ellipse">
            <a:avLst/>
          </a:prstGeom>
          <a:solidFill>
            <a:srgbClr val="2C3A8C"/>
          </a:solidFill>
          <a:ln/>
        </p:spPr>
      </p:sp>
      <p:sp>
        <p:nvSpPr>
          <p:cNvPr id="4" name="Shape 2"/>
          <p:cNvSpPr/>
          <p:nvPr/>
        </p:nvSpPr>
        <p:spPr>
          <a:xfrm>
            <a:off x="640080" y="685800"/>
            <a:ext cx="822960" cy="822960"/>
          </a:xfrm>
          <a:prstGeom prst="ellipse">
            <a:avLst/>
          </a:prstGeom>
          <a:solidFill>
            <a:srgbClr val="C9A24B"/>
          </a:solidFill>
          <a:ln/>
        </p:spPr>
      </p:sp>
      <p:pic>
        <p:nvPicPr>
          <p:cNvPr id="5" name="Image 0" descr="shield.png"/>
          <p:cNvPicPr>
            <a:picLocks noChangeAspect="1"/>
          </p:cNvPicPr>
          <p:nvPr/>
        </p:nvPicPr>
        <p:blipFill>
          <a:blip r:embed="rId3"/>
          <a:stretch>
            <a:fillRect/>
          </a:stretch>
        </p:blipFill>
        <p:spPr>
          <a:xfrm>
            <a:off x="854050" y="899770"/>
            <a:ext cx="395021" cy="395021"/>
          </a:xfrm>
          <a:prstGeom prst="rect">
            <a:avLst/>
          </a:prstGeom>
        </p:spPr>
      </p:pic>
      <p:sp>
        <p:nvSpPr>
          <p:cNvPr id="6" name="Text 3"/>
          <p:cNvSpPr/>
          <p:nvPr/>
        </p:nvSpPr>
        <p:spPr>
          <a:xfrm>
            <a:off x="640080" y="2651760"/>
            <a:ext cx="9601200" cy="1280160"/>
          </a:xfrm>
          <a:prstGeom prst="rect">
            <a:avLst/>
          </a:prstGeom>
          <a:noFill/>
          <a:ln/>
        </p:spPr>
        <p:txBody>
          <a:bodyPr wrap="square" rtlCol="0" anchor="ctr"/>
          <a:lstStyle/>
          <a:p>
            <a:pPr marL="0" indent="0" algn="l">
              <a:lnSpc>
                <a:spcPts val="4200"/>
              </a:lnSpc>
              <a:buNone/>
            </a:pPr>
            <a:r>
              <a:rPr lang="en-US" sz="4000" b="1" dirty="0">
                <a:solidFill>
                  <a:srgbClr val="FFFFFF"/>
                </a:solidFill>
                <a:latin typeface="Cambria" pitchFamily="34" charset="0"/>
                <a:ea typeface="Cambria" pitchFamily="34" charset="-122"/>
                <a:cs typeface="Cambria" pitchFamily="34" charset="-120"/>
              </a:rPr>
              <a:t>INSURANCE POLICY MANAGEMENT SYSTEM</a:t>
            </a:r>
            <a:endParaRPr lang="en-US" sz="4000" dirty="0"/>
          </a:p>
        </p:txBody>
      </p:sp>
      <p:sp>
        <p:nvSpPr>
          <p:cNvPr id="7" name="Text 4"/>
          <p:cNvSpPr/>
          <p:nvPr/>
        </p:nvSpPr>
        <p:spPr>
          <a:xfrm>
            <a:off x="658368" y="3886200"/>
            <a:ext cx="8686800" cy="548640"/>
          </a:xfrm>
          <a:prstGeom prst="rect">
            <a:avLst/>
          </a:prstGeom>
          <a:noFill/>
          <a:ln/>
        </p:spPr>
        <p:txBody>
          <a:bodyPr wrap="square" rtlCol="0" anchor="ctr"/>
          <a:lstStyle/>
          <a:p>
            <a:pPr marL="0" indent="0">
              <a:buNone/>
            </a:pPr>
            <a:r>
              <a:rPr lang="en-US" sz="1600" i="1" dirty="0">
                <a:solidFill>
                  <a:srgbClr val="CADCFC"/>
                </a:solidFill>
                <a:latin typeface="Calibri" pitchFamily="34" charset="0"/>
                <a:ea typeface="Calibri" pitchFamily="34" charset="-122"/>
                <a:cs typeface="Calibri" pitchFamily="34" charset="-120"/>
              </a:rPr>
              <a:t>A Digital Platform for Policy Issuance, Claims &amp; Customer Management</a:t>
            </a:r>
            <a:endParaRPr lang="en-US" sz="1600" dirty="0"/>
          </a:p>
        </p:txBody>
      </p:sp>
      <p:sp>
        <p:nvSpPr>
          <p:cNvPr id="8" name="Text 5"/>
          <p:cNvSpPr/>
          <p:nvPr/>
        </p:nvSpPr>
        <p:spPr>
          <a:xfrm>
            <a:off x="658368" y="5943600"/>
            <a:ext cx="4572000" cy="365760"/>
          </a:xfrm>
          <a:prstGeom prst="rect">
            <a:avLst/>
          </a:prstGeom>
          <a:noFill/>
          <a:ln/>
        </p:spPr>
        <p:txBody>
          <a:bodyPr wrap="square" rtlCol="0" anchor="ctr"/>
          <a:lstStyle/>
          <a:p>
            <a:pPr marL="0" indent="0">
              <a:buNone/>
            </a:pPr>
            <a:r>
              <a:rPr lang="en-US" sz="1200" b="1" kern="0" spc="200" dirty="0">
                <a:solidFill>
                  <a:srgbClr val="C9A24B"/>
                </a:solidFill>
                <a:latin typeface="Calibri" pitchFamily="34" charset="0"/>
                <a:ea typeface="Calibri" pitchFamily="34" charset="-122"/>
                <a:cs typeface="Calibri" pitchFamily="34" charset="-120"/>
              </a:rPr>
              <a:t>PROJECT PRESENTATION</a:t>
            </a:r>
            <a:endParaRPr lang="en-US" sz="1200" dirty="0"/>
          </a:p>
        </p:txBody>
      </p:sp>
      <p:sp>
        <p:nvSpPr>
          <p:cNvPr id="9" name="Text 6"/>
          <p:cNvSpPr/>
          <p:nvPr/>
        </p:nvSpPr>
        <p:spPr>
          <a:xfrm>
            <a:off x="11521440" y="6473952"/>
            <a:ext cx="548640" cy="274320"/>
          </a:xfrm>
          <a:prstGeom prst="rect">
            <a:avLst/>
          </a:prstGeom>
          <a:noFill/>
          <a:ln/>
        </p:spPr>
        <p:txBody>
          <a:bodyPr wrap="square"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01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7315200" cy="640080"/>
          </a:xfrm>
          <a:prstGeom prst="rect">
            <a:avLst/>
          </a:prstGeom>
          <a:noFill/>
          <a:ln/>
        </p:spPr>
        <p:txBody>
          <a:bodyPr wrap="square" rtlCol="0" anchor="ctr"/>
          <a:lstStyle/>
          <a:p>
            <a:pPr marL="0" indent="0">
              <a:buNone/>
            </a:pPr>
            <a:r>
              <a:rPr lang="en-US" sz="3400" b="1" dirty="0">
                <a:solidFill>
                  <a:srgbClr val="1E2761"/>
                </a:solidFill>
                <a:latin typeface="Cambria" pitchFamily="34" charset="0"/>
                <a:ea typeface="Cambria" pitchFamily="34" charset="-122"/>
                <a:cs typeface="Cambria" pitchFamily="34" charset="-120"/>
              </a:rPr>
              <a:t>Abstract</a:t>
            </a:r>
            <a:endParaRPr lang="en-US" sz="3400" dirty="0"/>
          </a:p>
        </p:txBody>
      </p:sp>
      <p:sp>
        <p:nvSpPr>
          <p:cNvPr id="3" name="Shape 1"/>
          <p:cNvSpPr/>
          <p:nvPr/>
        </p:nvSpPr>
        <p:spPr>
          <a:xfrm>
            <a:off x="9966960" y="457200"/>
            <a:ext cx="1005840" cy="1005840"/>
          </a:xfrm>
          <a:prstGeom prst="ellipse">
            <a:avLst/>
          </a:prstGeom>
          <a:solidFill>
            <a:srgbClr val="1E2761"/>
          </a:solidFill>
          <a:ln/>
        </p:spPr>
      </p:sp>
      <p:pic>
        <p:nvPicPr>
          <p:cNvPr id="4" name="Image 0" descr="file.png"/>
          <p:cNvPicPr>
            <a:picLocks noChangeAspect="1"/>
          </p:cNvPicPr>
          <p:nvPr/>
        </p:nvPicPr>
        <p:blipFill>
          <a:blip r:embed="rId3"/>
          <a:stretch>
            <a:fillRect/>
          </a:stretch>
        </p:blipFill>
        <p:spPr>
          <a:xfrm>
            <a:off x="10228478" y="718718"/>
            <a:ext cx="482803" cy="482803"/>
          </a:xfrm>
          <a:prstGeom prst="rect">
            <a:avLst/>
          </a:prstGeom>
        </p:spPr>
      </p:pic>
      <p:sp>
        <p:nvSpPr>
          <p:cNvPr id="5" name="Text 2"/>
          <p:cNvSpPr/>
          <p:nvPr/>
        </p:nvSpPr>
        <p:spPr>
          <a:xfrm>
            <a:off x="640080" y="1828800"/>
            <a:ext cx="10881360" cy="3108960"/>
          </a:xfrm>
          <a:prstGeom prst="rect">
            <a:avLst/>
          </a:prstGeom>
          <a:noFill/>
          <a:ln/>
        </p:spPr>
        <p:txBody>
          <a:bodyPr wrap="square" rtlCol="0" anchor="ctr"/>
          <a:lstStyle/>
          <a:p>
            <a:pPr marL="0" indent="0" algn="l">
              <a:lnSpc>
                <a:spcPts val="2600"/>
              </a:lnSpc>
              <a:buNone/>
            </a:pPr>
            <a:r>
              <a:rPr lang="en-US" sz="1600" dirty="0">
                <a:solidFill>
                  <a:srgbClr val="1B1B2A"/>
                </a:solidFill>
                <a:latin typeface="Calibri" pitchFamily="34" charset="0"/>
                <a:ea typeface="Calibri" pitchFamily="34" charset="-122"/>
                <a:cs typeface="Calibri" pitchFamily="34" charset="-120"/>
              </a:rPr>
              <a:t>The Insurance Policy Management System (IPMS) is a web-based application designed to digitize and streamline the complete lifecycle of insurance policies — from customer onboarding and policy creation to premium tracking, renewals, and claims processing. Traditional insurance workflows rely heavily on manual paperwork, fragmented spreadsheets, and disconnected communication, leading to delays, errors, and poor customer experience. This project proposes a centralized, role-based platform where agents, administrators, and policyholders can manage policies, submit and track claims, and receive timely reminders, all through a single, secure, and user-friendly interface.</a:t>
            </a:r>
            <a:endParaRPr lang="en-US" sz="1600" dirty="0"/>
          </a:p>
        </p:txBody>
      </p:sp>
      <p:sp>
        <p:nvSpPr>
          <p:cNvPr id="6" name="Shape 3"/>
          <p:cNvSpPr/>
          <p:nvPr/>
        </p:nvSpPr>
        <p:spPr>
          <a:xfrm>
            <a:off x="640080" y="5257800"/>
            <a:ext cx="3413760" cy="1051560"/>
          </a:xfrm>
          <a:prstGeom prst="roundRect">
            <a:avLst>
              <a:gd name="adj" fmla="val 6957"/>
            </a:avLst>
          </a:prstGeom>
          <a:solidFill>
            <a:srgbClr val="CADCFC"/>
          </a:solidFill>
          <a:ln/>
        </p:spPr>
      </p:sp>
      <p:sp>
        <p:nvSpPr>
          <p:cNvPr id="7" name="Text 4"/>
          <p:cNvSpPr/>
          <p:nvPr/>
        </p:nvSpPr>
        <p:spPr>
          <a:xfrm>
            <a:off x="640080" y="5330952"/>
            <a:ext cx="3413760" cy="502920"/>
          </a:xfrm>
          <a:prstGeom prst="rect">
            <a:avLst/>
          </a:prstGeom>
          <a:noFill/>
          <a:ln/>
        </p:spPr>
        <p:txBody>
          <a:bodyPr wrap="square" rtlCol="0" anchor="ctr"/>
          <a:lstStyle/>
          <a:p>
            <a:pPr marL="0" indent="0" algn="ctr">
              <a:buNone/>
            </a:pPr>
            <a:r>
              <a:rPr lang="en-US" sz="2400" b="1" dirty="0">
                <a:solidFill>
                  <a:srgbClr val="1E2761"/>
                </a:solidFill>
                <a:latin typeface="Cambria" pitchFamily="34" charset="0"/>
                <a:ea typeface="Cambria" pitchFamily="34" charset="-122"/>
                <a:cs typeface="Cambria" pitchFamily="34" charset="-120"/>
              </a:rPr>
              <a:t>100%</a:t>
            </a:r>
            <a:endParaRPr lang="en-US" sz="2400" dirty="0"/>
          </a:p>
        </p:txBody>
      </p:sp>
      <p:sp>
        <p:nvSpPr>
          <p:cNvPr id="8" name="Text 5"/>
          <p:cNvSpPr/>
          <p:nvPr/>
        </p:nvSpPr>
        <p:spPr>
          <a:xfrm>
            <a:off x="640080" y="5852160"/>
            <a:ext cx="3413760" cy="365760"/>
          </a:xfrm>
          <a:prstGeom prst="rect">
            <a:avLst/>
          </a:prstGeom>
          <a:noFill/>
          <a:ln/>
        </p:spPr>
        <p:txBody>
          <a:bodyPr wrap="square" rtlCol="0" anchor="ctr"/>
          <a:lstStyle/>
          <a:p>
            <a:pPr marL="0" indent="0" algn="ctr">
              <a:buNone/>
            </a:pPr>
            <a:r>
              <a:rPr lang="en-US" sz="1200" dirty="0">
                <a:solidFill>
                  <a:srgbClr val="1B1B2A"/>
                </a:solidFill>
                <a:latin typeface="Calibri" pitchFamily="34" charset="0"/>
                <a:ea typeface="Calibri" pitchFamily="34" charset="-122"/>
                <a:cs typeface="Calibri" pitchFamily="34" charset="-120"/>
              </a:rPr>
              <a:t>Digital Workflow</a:t>
            </a:r>
            <a:endParaRPr lang="en-US" sz="1200" dirty="0"/>
          </a:p>
        </p:txBody>
      </p:sp>
      <p:sp>
        <p:nvSpPr>
          <p:cNvPr id="9" name="Shape 6"/>
          <p:cNvSpPr/>
          <p:nvPr/>
        </p:nvSpPr>
        <p:spPr>
          <a:xfrm>
            <a:off x="4373880" y="5257800"/>
            <a:ext cx="3413760" cy="1051560"/>
          </a:xfrm>
          <a:prstGeom prst="roundRect">
            <a:avLst>
              <a:gd name="adj" fmla="val 6957"/>
            </a:avLst>
          </a:prstGeom>
          <a:solidFill>
            <a:srgbClr val="CADCFC"/>
          </a:solidFill>
          <a:ln/>
        </p:spPr>
      </p:sp>
      <p:sp>
        <p:nvSpPr>
          <p:cNvPr id="10" name="Text 7"/>
          <p:cNvSpPr/>
          <p:nvPr/>
        </p:nvSpPr>
        <p:spPr>
          <a:xfrm>
            <a:off x="4373880" y="5330952"/>
            <a:ext cx="3413760" cy="502920"/>
          </a:xfrm>
          <a:prstGeom prst="rect">
            <a:avLst/>
          </a:prstGeom>
          <a:noFill/>
          <a:ln/>
        </p:spPr>
        <p:txBody>
          <a:bodyPr wrap="square" rtlCol="0" anchor="ctr"/>
          <a:lstStyle/>
          <a:p>
            <a:pPr marL="0" indent="0" algn="ctr">
              <a:buNone/>
            </a:pPr>
            <a:r>
              <a:rPr lang="en-US" sz="2400" b="1" dirty="0">
                <a:solidFill>
                  <a:srgbClr val="1E2761"/>
                </a:solidFill>
                <a:latin typeface="Cambria" pitchFamily="34" charset="0"/>
                <a:ea typeface="Cambria" pitchFamily="34" charset="-122"/>
                <a:cs typeface="Cambria" pitchFamily="34" charset="-120"/>
              </a:rPr>
              <a:t>24/7</a:t>
            </a:r>
            <a:endParaRPr lang="en-US" sz="2400" dirty="0"/>
          </a:p>
        </p:txBody>
      </p:sp>
      <p:sp>
        <p:nvSpPr>
          <p:cNvPr id="11" name="Text 8"/>
          <p:cNvSpPr/>
          <p:nvPr/>
        </p:nvSpPr>
        <p:spPr>
          <a:xfrm>
            <a:off x="4373880" y="5852160"/>
            <a:ext cx="3413760" cy="365760"/>
          </a:xfrm>
          <a:prstGeom prst="rect">
            <a:avLst/>
          </a:prstGeom>
          <a:noFill/>
          <a:ln/>
        </p:spPr>
        <p:txBody>
          <a:bodyPr wrap="square" rtlCol="0" anchor="ctr"/>
          <a:lstStyle/>
          <a:p>
            <a:pPr marL="0" indent="0" algn="ctr">
              <a:buNone/>
            </a:pPr>
            <a:r>
              <a:rPr lang="en-US" sz="1200" dirty="0">
                <a:solidFill>
                  <a:srgbClr val="1B1B2A"/>
                </a:solidFill>
                <a:latin typeface="Calibri" pitchFamily="34" charset="0"/>
                <a:ea typeface="Calibri" pitchFamily="34" charset="-122"/>
                <a:cs typeface="Calibri" pitchFamily="34" charset="-120"/>
              </a:rPr>
              <a:t>Policy Access</a:t>
            </a:r>
            <a:endParaRPr lang="en-US" sz="1200" dirty="0"/>
          </a:p>
        </p:txBody>
      </p:sp>
      <p:sp>
        <p:nvSpPr>
          <p:cNvPr id="12" name="Shape 9"/>
          <p:cNvSpPr/>
          <p:nvPr/>
        </p:nvSpPr>
        <p:spPr>
          <a:xfrm>
            <a:off x="8107680" y="5257800"/>
            <a:ext cx="3413760" cy="1051560"/>
          </a:xfrm>
          <a:prstGeom prst="roundRect">
            <a:avLst>
              <a:gd name="adj" fmla="val 6957"/>
            </a:avLst>
          </a:prstGeom>
          <a:solidFill>
            <a:srgbClr val="CADCFC"/>
          </a:solidFill>
          <a:ln/>
        </p:spPr>
      </p:sp>
      <p:sp>
        <p:nvSpPr>
          <p:cNvPr id="13" name="Text 10"/>
          <p:cNvSpPr/>
          <p:nvPr/>
        </p:nvSpPr>
        <p:spPr>
          <a:xfrm>
            <a:off x="8107680" y="5330952"/>
            <a:ext cx="3413760" cy="502920"/>
          </a:xfrm>
          <a:prstGeom prst="rect">
            <a:avLst/>
          </a:prstGeom>
          <a:noFill/>
          <a:ln/>
        </p:spPr>
        <p:txBody>
          <a:bodyPr wrap="square" rtlCol="0" anchor="ctr"/>
          <a:lstStyle/>
          <a:p>
            <a:pPr marL="0" indent="0" algn="ctr">
              <a:buNone/>
            </a:pPr>
            <a:r>
              <a:rPr lang="en-US" sz="2400" b="1" dirty="0">
                <a:solidFill>
                  <a:srgbClr val="1E2761"/>
                </a:solidFill>
                <a:latin typeface="Cambria" pitchFamily="34" charset="0"/>
                <a:ea typeface="Cambria" pitchFamily="34" charset="-122"/>
                <a:cs typeface="Cambria" pitchFamily="34" charset="-120"/>
              </a:rPr>
              <a:t>3-Tier</a:t>
            </a:r>
            <a:endParaRPr lang="en-US" sz="2400" dirty="0"/>
          </a:p>
        </p:txBody>
      </p:sp>
      <p:sp>
        <p:nvSpPr>
          <p:cNvPr id="14" name="Text 11"/>
          <p:cNvSpPr/>
          <p:nvPr/>
        </p:nvSpPr>
        <p:spPr>
          <a:xfrm>
            <a:off x="8107680" y="5852160"/>
            <a:ext cx="3413760" cy="365760"/>
          </a:xfrm>
          <a:prstGeom prst="rect">
            <a:avLst/>
          </a:prstGeom>
          <a:noFill/>
          <a:ln/>
        </p:spPr>
        <p:txBody>
          <a:bodyPr wrap="square" rtlCol="0" anchor="ctr"/>
          <a:lstStyle/>
          <a:p>
            <a:pPr marL="0" indent="0" algn="ctr">
              <a:buNone/>
            </a:pPr>
            <a:r>
              <a:rPr lang="en-US" sz="1200" dirty="0">
                <a:solidFill>
                  <a:srgbClr val="1B1B2A"/>
                </a:solidFill>
                <a:latin typeface="Calibri" pitchFamily="34" charset="0"/>
                <a:ea typeface="Calibri" pitchFamily="34" charset="-122"/>
                <a:cs typeface="Calibri" pitchFamily="34" charset="-120"/>
              </a:rPr>
              <a:t>Role-Based Access</a:t>
            </a:r>
            <a:endParaRPr lang="en-US" sz="1200" dirty="0"/>
          </a:p>
        </p:txBody>
      </p:sp>
      <p:sp>
        <p:nvSpPr>
          <p:cNvPr id="15" name="Text 12"/>
          <p:cNvSpPr/>
          <p:nvPr/>
        </p:nvSpPr>
        <p:spPr>
          <a:xfrm>
            <a:off x="11521440" y="6473952"/>
            <a:ext cx="548640" cy="274320"/>
          </a:xfrm>
          <a:prstGeom prst="rect">
            <a:avLst/>
          </a:prstGeom>
          <a:noFill/>
          <a:ln/>
        </p:spPr>
        <p:txBody>
          <a:bodyPr wrap="square"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C615A48-3137-9476-A4B2-DAFA9B9727B9}"/>
              </a:ext>
            </a:extLst>
          </p:cNvPr>
          <p:cNvSpPr txBox="1"/>
          <p:nvPr/>
        </p:nvSpPr>
        <p:spPr>
          <a:xfrm>
            <a:off x="561473" y="2555846"/>
            <a:ext cx="9320463" cy="2677656"/>
          </a:xfrm>
          <a:prstGeom prst="rect">
            <a:avLst/>
          </a:prstGeom>
          <a:noFill/>
        </p:spPr>
        <p:txBody>
          <a:bodyPr wrap="square">
            <a:spAutoFit/>
          </a:bodyPr>
          <a:lstStyle/>
          <a:p>
            <a:pPr marL="342900" lvl="0" indent="-342900">
              <a:buFont typeface="Arial" panose="020B0604020202020204" pitchFamily="34" charset="0"/>
              <a:buChar char="•"/>
            </a:pPr>
            <a:r>
              <a:rPr lang="en-IN" sz="2800" dirty="0"/>
              <a:t>User registers and logs into the system. </a:t>
            </a:r>
          </a:p>
          <a:p>
            <a:pPr marL="342900" lvl="0" indent="-342900">
              <a:buFont typeface="Arial" panose="020B0604020202020204" pitchFamily="34" charset="0"/>
              <a:buChar char="•"/>
            </a:pPr>
            <a:r>
              <a:rPr lang="en-IN" sz="2800" dirty="0"/>
              <a:t>The system authenticates the user based on their role. </a:t>
            </a:r>
          </a:p>
          <a:p>
            <a:pPr marL="342900" lvl="0" indent="-342900">
              <a:buFont typeface="Arial" panose="020B0604020202020204" pitchFamily="34" charset="0"/>
              <a:buChar char="•"/>
            </a:pPr>
            <a:r>
              <a:rPr lang="en-IN" sz="2800" dirty="0"/>
              <a:t>Customers can view available insurance policies. </a:t>
            </a:r>
          </a:p>
          <a:p>
            <a:pPr marL="342900" lvl="0" indent="-342900">
              <a:buFont typeface="Arial" panose="020B0604020202020204" pitchFamily="34" charset="0"/>
              <a:buChar char="•"/>
            </a:pPr>
            <a:r>
              <a:rPr lang="en-IN" sz="2800" dirty="0"/>
              <a:t>Customer selects a policy and provides the required details. </a:t>
            </a:r>
          </a:p>
          <a:p>
            <a:pPr marL="342900" lvl="0" indent="-342900">
              <a:buFont typeface="Arial" panose="020B0604020202020204" pitchFamily="34" charset="0"/>
              <a:buChar char="•"/>
            </a:pPr>
            <a:r>
              <a:rPr lang="en-IN" sz="2800" dirty="0"/>
              <a:t>The system calculates the applicable premium. </a:t>
            </a:r>
          </a:p>
          <a:p>
            <a:pPr marL="342900" lvl="0" indent="-342900">
              <a:buFont typeface="Arial" panose="020B0604020202020204" pitchFamily="34" charset="0"/>
              <a:buChar char="•"/>
            </a:pPr>
            <a:r>
              <a:rPr lang="en-IN" sz="2800" dirty="0"/>
              <a:t>Policy details are stored in the database</a:t>
            </a:r>
            <a:r>
              <a:rPr lang="en-IN" dirty="0"/>
              <a:t>.</a:t>
            </a:r>
          </a:p>
        </p:txBody>
      </p:sp>
      <p:sp>
        <p:nvSpPr>
          <p:cNvPr id="4" name="TextBox 3">
            <a:extLst>
              <a:ext uri="{FF2B5EF4-FFF2-40B4-BE49-F238E27FC236}">
                <a16:creationId xmlns:a16="http://schemas.microsoft.com/office/drawing/2014/main" id="{10079F83-8CC3-7A78-60D1-DC4A016C4341}"/>
              </a:ext>
            </a:extLst>
          </p:cNvPr>
          <p:cNvSpPr txBox="1"/>
          <p:nvPr/>
        </p:nvSpPr>
        <p:spPr>
          <a:xfrm>
            <a:off x="802105" y="593558"/>
            <a:ext cx="4519571" cy="830997"/>
          </a:xfrm>
          <a:prstGeom prst="rect">
            <a:avLst/>
          </a:prstGeom>
          <a:noFill/>
        </p:spPr>
        <p:txBody>
          <a:bodyPr wrap="none" rtlCol="0">
            <a:spAutoFit/>
          </a:bodyPr>
          <a:lstStyle/>
          <a:p>
            <a:r>
              <a:rPr lang="en-US" sz="4800" dirty="0"/>
              <a:t>System</a:t>
            </a:r>
            <a:r>
              <a:rPr lang="en-US" sz="2400" dirty="0"/>
              <a:t> </a:t>
            </a:r>
            <a:r>
              <a:rPr lang="en-US" sz="4800" dirty="0"/>
              <a:t>work</a:t>
            </a:r>
            <a:r>
              <a:rPr lang="en-US" sz="2400" dirty="0"/>
              <a:t> </a:t>
            </a:r>
            <a:r>
              <a:rPr lang="en-US" sz="4800" dirty="0"/>
              <a:t>flow</a:t>
            </a:r>
            <a:r>
              <a:rPr lang="en-US" sz="2400" dirty="0"/>
              <a:t> </a:t>
            </a:r>
            <a:endParaRPr lang="en-IN" sz="2400" dirty="0"/>
          </a:p>
        </p:txBody>
      </p:sp>
    </p:spTree>
    <p:extLst>
      <p:ext uri="{BB962C8B-B14F-4D97-AF65-F5344CB8AC3E}">
        <p14:creationId xmlns:p14="http://schemas.microsoft.com/office/powerpoint/2010/main" val="25942589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DB349D1-F263-6E3D-E7A2-5F21162089B1}"/>
              </a:ext>
            </a:extLst>
          </p:cNvPr>
          <p:cNvSpPr txBox="1"/>
          <p:nvPr/>
        </p:nvSpPr>
        <p:spPr>
          <a:xfrm>
            <a:off x="898357" y="128338"/>
            <a:ext cx="6063917" cy="830997"/>
          </a:xfrm>
          <a:prstGeom prst="rect">
            <a:avLst/>
          </a:prstGeom>
          <a:noFill/>
        </p:spPr>
        <p:txBody>
          <a:bodyPr wrap="square" rtlCol="0">
            <a:spAutoFit/>
          </a:bodyPr>
          <a:lstStyle/>
          <a:p>
            <a:r>
              <a:rPr lang="en-US" sz="4800" dirty="0"/>
              <a:t>Key features and users</a:t>
            </a:r>
            <a:endParaRPr lang="en-IN" sz="4800" dirty="0"/>
          </a:p>
        </p:txBody>
      </p:sp>
      <p:graphicFrame>
        <p:nvGraphicFramePr>
          <p:cNvPr id="3" name="Table 2">
            <a:extLst>
              <a:ext uri="{FF2B5EF4-FFF2-40B4-BE49-F238E27FC236}">
                <a16:creationId xmlns:a16="http://schemas.microsoft.com/office/drawing/2014/main" id="{8850F692-D5E5-FD4F-274B-807163D06D99}"/>
              </a:ext>
            </a:extLst>
          </p:cNvPr>
          <p:cNvGraphicFramePr>
            <a:graphicFrameLocks noGrp="1"/>
          </p:cNvGraphicFramePr>
          <p:nvPr>
            <p:extLst>
              <p:ext uri="{D42A27DB-BD31-4B8C-83A1-F6EECF244321}">
                <p14:modId xmlns:p14="http://schemas.microsoft.com/office/powerpoint/2010/main" val="3306035836"/>
              </p:ext>
            </p:extLst>
          </p:nvPr>
        </p:nvGraphicFramePr>
        <p:xfrm>
          <a:off x="996616" y="959335"/>
          <a:ext cx="10198768" cy="6031173"/>
        </p:xfrm>
        <a:graphic>
          <a:graphicData uri="http://schemas.openxmlformats.org/drawingml/2006/table">
            <a:tbl>
              <a:tblPr>
                <a:tableStyleId>{5C22544A-7EE6-4342-B048-85BDC9FD1C3A}</a:tableStyleId>
              </a:tblPr>
              <a:tblGrid>
                <a:gridCol w="4940968">
                  <a:extLst>
                    <a:ext uri="{9D8B030D-6E8A-4147-A177-3AD203B41FA5}">
                      <a16:colId xmlns:a16="http://schemas.microsoft.com/office/drawing/2014/main" val="520338972"/>
                    </a:ext>
                  </a:extLst>
                </a:gridCol>
                <a:gridCol w="5257800">
                  <a:extLst>
                    <a:ext uri="{9D8B030D-6E8A-4147-A177-3AD203B41FA5}">
                      <a16:colId xmlns:a16="http://schemas.microsoft.com/office/drawing/2014/main" val="4066854568"/>
                    </a:ext>
                  </a:extLst>
                </a:gridCol>
              </a:tblGrid>
              <a:tr h="431392">
                <a:tc>
                  <a:txBody>
                    <a:bodyPr/>
                    <a:lstStyle/>
                    <a:p>
                      <a:pPr>
                        <a:buNone/>
                      </a:pPr>
                      <a:r>
                        <a:rPr lang="en-IN" dirty="0"/>
                        <a:t>User</a:t>
                      </a:r>
                    </a:p>
                  </a:txBody>
                  <a:tcPr anchor="ctr"/>
                </a:tc>
                <a:tc>
                  <a:txBody>
                    <a:bodyPr/>
                    <a:lstStyle/>
                    <a:p>
                      <a:pPr>
                        <a:buNone/>
                      </a:pPr>
                      <a:r>
                        <a:rPr lang="en-IN" dirty="0"/>
                        <a:t>Key Features</a:t>
                      </a:r>
                    </a:p>
                  </a:txBody>
                  <a:tcPr anchor="ctr"/>
                </a:tc>
                <a:extLst>
                  <a:ext uri="{0D108BD9-81ED-4DB2-BD59-A6C34878D82A}">
                    <a16:rowId xmlns:a16="http://schemas.microsoft.com/office/drawing/2014/main" val="273346479"/>
                  </a:ext>
                </a:extLst>
              </a:tr>
              <a:tr h="2213867">
                <a:tc>
                  <a:txBody>
                    <a:bodyPr/>
                    <a:lstStyle/>
                    <a:p>
                      <a:pPr>
                        <a:buNone/>
                      </a:pPr>
                      <a:r>
                        <a:rPr lang="en-IN" sz="2400" dirty="0"/>
                        <a:t>Customer</a:t>
                      </a:r>
                    </a:p>
                  </a:txBody>
                  <a:tcPr anchor="ctr"/>
                </a:tc>
                <a:tc>
                  <a:txBody>
                    <a:bodyPr/>
                    <a:lstStyle/>
                    <a:p>
                      <a:pPr>
                        <a:buNone/>
                      </a:pPr>
                      <a:r>
                        <a:rPr lang="en-IN" sz="2400" dirty="0"/>
                        <a:t>Registration, login, view policies, purchase policy, premium payment, renewal, claim submission, claim tracking, document download</a:t>
                      </a:r>
                    </a:p>
                  </a:txBody>
                  <a:tcPr anchor="ctr"/>
                </a:tc>
                <a:extLst>
                  <a:ext uri="{0D108BD9-81ED-4DB2-BD59-A6C34878D82A}">
                    <a16:rowId xmlns:a16="http://schemas.microsoft.com/office/drawing/2014/main" val="369992950"/>
                  </a:ext>
                </a:extLst>
              </a:tr>
              <a:tr h="1692957">
                <a:tc>
                  <a:txBody>
                    <a:bodyPr/>
                    <a:lstStyle/>
                    <a:p>
                      <a:pPr>
                        <a:buNone/>
                      </a:pPr>
                      <a:r>
                        <a:rPr lang="en-IN" sz="2400" dirty="0"/>
                        <a:t>Agent</a:t>
                      </a:r>
                    </a:p>
                  </a:txBody>
                  <a:tcPr anchor="ctr"/>
                </a:tc>
                <a:tc>
                  <a:txBody>
                    <a:bodyPr/>
                    <a:lstStyle/>
                    <a:p>
                      <a:pPr>
                        <a:buNone/>
                      </a:pPr>
                      <a:r>
                        <a:rPr lang="en-IN" sz="2400" dirty="0"/>
                        <a:t>Customer management, policy assistance, policy tracking, renewal monitoring, claim assistance</a:t>
                      </a:r>
                    </a:p>
                  </a:txBody>
                  <a:tcPr anchor="ctr"/>
                </a:tc>
                <a:extLst>
                  <a:ext uri="{0D108BD9-81ED-4DB2-BD59-A6C34878D82A}">
                    <a16:rowId xmlns:a16="http://schemas.microsoft.com/office/drawing/2014/main" val="397602353"/>
                  </a:ext>
                </a:extLst>
              </a:tr>
              <a:tr h="1692957">
                <a:tc>
                  <a:txBody>
                    <a:bodyPr/>
                    <a:lstStyle/>
                    <a:p>
                      <a:pPr>
                        <a:buNone/>
                      </a:pPr>
                      <a:r>
                        <a:rPr lang="en-IN" sz="2400" dirty="0"/>
                        <a:t>Administrator</a:t>
                      </a:r>
                    </a:p>
                  </a:txBody>
                  <a:tcPr anchor="ctr"/>
                </a:tc>
                <a:tc>
                  <a:txBody>
                    <a:bodyPr/>
                    <a:lstStyle/>
                    <a:p>
                      <a:pPr>
                        <a:buNone/>
                      </a:pPr>
                      <a:r>
                        <a:rPr lang="en-IN" sz="2400" dirty="0"/>
                        <a:t>User management, policy management, payment monitoring, claim approval/rejection, reports, notifications</a:t>
                      </a:r>
                    </a:p>
                  </a:txBody>
                  <a:tcPr anchor="ctr"/>
                </a:tc>
                <a:extLst>
                  <a:ext uri="{0D108BD9-81ED-4DB2-BD59-A6C34878D82A}">
                    <a16:rowId xmlns:a16="http://schemas.microsoft.com/office/drawing/2014/main" val="2475600842"/>
                  </a:ext>
                </a:extLst>
              </a:tr>
            </a:tbl>
          </a:graphicData>
        </a:graphic>
      </p:graphicFrame>
    </p:spTree>
    <p:extLst>
      <p:ext uri="{BB962C8B-B14F-4D97-AF65-F5344CB8AC3E}">
        <p14:creationId xmlns:p14="http://schemas.microsoft.com/office/powerpoint/2010/main" val="1970544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3">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640080" y="457200"/>
            <a:ext cx="8229600" cy="640080"/>
          </a:xfrm>
          <a:prstGeom prst="rect">
            <a:avLst/>
          </a:prstGeom>
          <a:noFill/>
          <a:ln/>
        </p:spPr>
        <p:txBody>
          <a:bodyPr wrap="square"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Problem Statement</a:t>
            </a:r>
            <a:endParaRPr lang="en-US" sz="3400" dirty="0"/>
          </a:p>
        </p:txBody>
      </p:sp>
      <p:sp>
        <p:nvSpPr>
          <p:cNvPr id="3" name="Shape 1"/>
          <p:cNvSpPr/>
          <p:nvPr/>
        </p:nvSpPr>
        <p:spPr>
          <a:xfrm>
            <a:off x="640080" y="1874520"/>
            <a:ext cx="5257800" cy="2148840"/>
          </a:xfrm>
          <a:prstGeom prst="roundRect">
            <a:avLst>
              <a:gd name="adj" fmla="val 4255"/>
            </a:avLst>
          </a:prstGeom>
          <a:solidFill>
            <a:srgbClr val="2C3A8C"/>
          </a:solidFill>
          <a:ln/>
          <a:effectLst>
            <a:outerShdw blurRad="101600" dist="38100" dir="5400000" algn="bl" rotWithShape="0">
              <a:srgbClr val="000000">
                <a:alpha val="25000"/>
              </a:srgbClr>
            </a:outerShdw>
          </a:effectLst>
        </p:spPr>
      </p:sp>
      <p:sp>
        <p:nvSpPr>
          <p:cNvPr id="4" name="Shape 2"/>
          <p:cNvSpPr/>
          <p:nvPr/>
        </p:nvSpPr>
        <p:spPr>
          <a:xfrm>
            <a:off x="914400" y="2148840"/>
            <a:ext cx="685800" cy="685800"/>
          </a:xfrm>
          <a:prstGeom prst="ellipse">
            <a:avLst/>
          </a:prstGeom>
          <a:solidFill>
            <a:srgbClr val="C9A24B"/>
          </a:solidFill>
          <a:ln/>
        </p:spPr>
      </p:sp>
      <p:pic>
        <p:nvPicPr>
          <p:cNvPr id="5" name="Image 0" descr="alert.png"/>
          <p:cNvPicPr>
            <a:picLocks noChangeAspect="1"/>
          </p:cNvPicPr>
          <p:nvPr/>
        </p:nvPicPr>
        <p:blipFill>
          <a:blip r:embed="rId3"/>
          <a:stretch>
            <a:fillRect/>
          </a:stretch>
        </p:blipFill>
        <p:spPr>
          <a:xfrm>
            <a:off x="1092708" y="2327148"/>
            <a:ext cx="329184" cy="329184"/>
          </a:xfrm>
          <a:prstGeom prst="rect">
            <a:avLst/>
          </a:prstGeom>
        </p:spPr>
      </p:pic>
      <p:sp>
        <p:nvSpPr>
          <p:cNvPr id="6" name="Text 3"/>
          <p:cNvSpPr/>
          <p:nvPr/>
        </p:nvSpPr>
        <p:spPr>
          <a:xfrm>
            <a:off x="1783080" y="2103120"/>
            <a:ext cx="3886200" cy="502920"/>
          </a:xfrm>
          <a:prstGeom prst="rect">
            <a:avLst/>
          </a:prstGeom>
          <a:noFill/>
          <a:ln/>
        </p:spPr>
        <p:txBody>
          <a:bodyPr wrap="square" rtlCol="0" anchor="ctr"/>
          <a:lstStyle/>
          <a:p>
            <a:pPr marL="0" indent="0">
              <a:lnSpc>
                <a:spcPts val="1800"/>
              </a:lnSpc>
              <a:buNone/>
            </a:pPr>
            <a:r>
              <a:rPr lang="en-US" sz="1500" b="1" dirty="0">
                <a:solidFill>
                  <a:srgbClr val="FFFFFF"/>
                </a:solidFill>
                <a:latin typeface="Cambria" pitchFamily="34" charset="0"/>
                <a:ea typeface="Cambria" pitchFamily="34" charset="-122"/>
                <a:cs typeface="Cambria" pitchFamily="34" charset="-120"/>
              </a:rPr>
              <a:t>Manual, Paper-Heavy Processes</a:t>
            </a:r>
            <a:endParaRPr lang="en-US" sz="1500" dirty="0"/>
          </a:p>
        </p:txBody>
      </p:sp>
      <p:sp>
        <p:nvSpPr>
          <p:cNvPr id="7" name="Text 4"/>
          <p:cNvSpPr/>
          <p:nvPr/>
        </p:nvSpPr>
        <p:spPr>
          <a:xfrm>
            <a:off x="914400" y="2926080"/>
            <a:ext cx="4709160" cy="960120"/>
          </a:xfrm>
          <a:prstGeom prst="rect">
            <a:avLst/>
          </a:prstGeom>
          <a:noFill/>
          <a:ln/>
        </p:spPr>
        <p:txBody>
          <a:bodyPr wrap="square" rtlCol="0" anchor="ctr"/>
          <a:lstStyle/>
          <a:p>
            <a:pPr marL="0" indent="0">
              <a:lnSpc>
                <a:spcPts val="1600"/>
              </a:lnSpc>
              <a:buNone/>
            </a:pPr>
            <a:r>
              <a:rPr lang="en-US" sz="1200" dirty="0">
                <a:solidFill>
                  <a:srgbClr val="CADCFC"/>
                </a:solidFill>
                <a:latin typeface="Calibri" pitchFamily="34" charset="0"/>
                <a:ea typeface="Calibri" pitchFamily="34" charset="-122"/>
                <a:cs typeface="Calibri" pitchFamily="34" charset="-120"/>
              </a:rPr>
              <a:t>Policy issuance and renewals still rely on physical documents and spreadsheets, causing delays and lost records.</a:t>
            </a:r>
            <a:endParaRPr lang="en-US" sz="1200" dirty="0"/>
          </a:p>
        </p:txBody>
      </p:sp>
      <p:sp>
        <p:nvSpPr>
          <p:cNvPr id="8" name="Shape 5"/>
          <p:cNvSpPr/>
          <p:nvPr/>
        </p:nvSpPr>
        <p:spPr>
          <a:xfrm>
            <a:off x="6263640" y="1874520"/>
            <a:ext cx="5257800" cy="2148840"/>
          </a:xfrm>
          <a:prstGeom prst="roundRect">
            <a:avLst>
              <a:gd name="adj" fmla="val 4255"/>
            </a:avLst>
          </a:prstGeom>
          <a:solidFill>
            <a:srgbClr val="2C3A8C"/>
          </a:solidFill>
          <a:ln/>
          <a:effectLst>
            <a:outerShdw blurRad="101600" dist="38100" dir="5400000" algn="bl" rotWithShape="0">
              <a:srgbClr val="000000">
                <a:alpha val="25000"/>
              </a:srgbClr>
            </a:outerShdw>
          </a:effectLst>
        </p:spPr>
      </p:sp>
      <p:sp>
        <p:nvSpPr>
          <p:cNvPr id="9" name="Shape 6"/>
          <p:cNvSpPr/>
          <p:nvPr/>
        </p:nvSpPr>
        <p:spPr>
          <a:xfrm>
            <a:off x="6537960" y="2148840"/>
            <a:ext cx="685800" cy="685800"/>
          </a:xfrm>
          <a:prstGeom prst="ellipse">
            <a:avLst/>
          </a:prstGeom>
          <a:solidFill>
            <a:srgbClr val="C9A24B"/>
          </a:solidFill>
          <a:ln/>
        </p:spPr>
      </p:sp>
      <p:pic>
        <p:nvPicPr>
          <p:cNvPr id="10" name="Image 1" descr="clock.png"/>
          <p:cNvPicPr>
            <a:picLocks noChangeAspect="1"/>
          </p:cNvPicPr>
          <p:nvPr/>
        </p:nvPicPr>
        <p:blipFill>
          <a:blip r:embed="rId4"/>
          <a:stretch>
            <a:fillRect/>
          </a:stretch>
        </p:blipFill>
        <p:spPr>
          <a:xfrm>
            <a:off x="6716268" y="2327148"/>
            <a:ext cx="329184" cy="329184"/>
          </a:xfrm>
          <a:prstGeom prst="rect">
            <a:avLst/>
          </a:prstGeom>
        </p:spPr>
      </p:pic>
      <p:sp>
        <p:nvSpPr>
          <p:cNvPr id="11" name="Text 7"/>
          <p:cNvSpPr/>
          <p:nvPr/>
        </p:nvSpPr>
        <p:spPr>
          <a:xfrm>
            <a:off x="7406640" y="2103120"/>
            <a:ext cx="3886200" cy="502920"/>
          </a:xfrm>
          <a:prstGeom prst="rect">
            <a:avLst/>
          </a:prstGeom>
          <a:noFill/>
          <a:ln/>
        </p:spPr>
        <p:txBody>
          <a:bodyPr wrap="square" rtlCol="0" anchor="ctr"/>
          <a:lstStyle/>
          <a:p>
            <a:pPr marL="0" indent="0">
              <a:lnSpc>
                <a:spcPts val="1800"/>
              </a:lnSpc>
              <a:buNone/>
            </a:pPr>
            <a:r>
              <a:rPr lang="en-US" sz="1500" b="1" dirty="0">
                <a:solidFill>
                  <a:srgbClr val="FFFFFF"/>
                </a:solidFill>
                <a:latin typeface="Cambria" pitchFamily="34" charset="0"/>
                <a:ea typeface="Cambria" pitchFamily="34" charset="-122"/>
                <a:cs typeface="Cambria" pitchFamily="34" charset="-120"/>
              </a:rPr>
              <a:t>Missed Renewals &amp; Deadlines</a:t>
            </a:r>
            <a:endParaRPr lang="en-US" sz="1500" dirty="0"/>
          </a:p>
        </p:txBody>
      </p:sp>
      <p:sp>
        <p:nvSpPr>
          <p:cNvPr id="12" name="Text 8"/>
          <p:cNvSpPr/>
          <p:nvPr/>
        </p:nvSpPr>
        <p:spPr>
          <a:xfrm>
            <a:off x="6537960" y="2926080"/>
            <a:ext cx="4709160" cy="960120"/>
          </a:xfrm>
          <a:prstGeom prst="rect">
            <a:avLst/>
          </a:prstGeom>
          <a:noFill/>
          <a:ln/>
        </p:spPr>
        <p:txBody>
          <a:bodyPr wrap="square" rtlCol="0" anchor="ctr"/>
          <a:lstStyle/>
          <a:p>
            <a:pPr marL="0" indent="0">
              <a:lnSpc>
                <a:spcPts val="1600"/>
              </a:lnSpc>
              <a:buNone/>
            </a:pPr>
            <a:r>
              <a:rPr lang="en-US" sz="1200" dirty="0">
                <a:solidFill>
                  <a:srgbClr val="CADCFC"/>
                </a:solidFill>
                <a:latin typeface="Calibri" pitchFamily="34" charset="0"/>
                <a:ea typeface="Calibri" pitchFamily="34" charset="-122"/>
                <a:cs typeface="Calibri" pitchFamily="34" charset="-120"/>
              </a:rPr>
              <a:t>Absence of automated reminders leads to lapsed policies and revenue loss for insurers.</a:t>
            </a:r>
            <a:endParaRPr lang="en-US" sz="1200" dirty="0"/>
          </a:p>
        </p:txBody>
      </p:sp>
      <p:sp>
        <p:nvSpPr>
          <p:cNvPr id="13" name="Shape 9"/>
          <p:cNvSpPr/>
          <p:nvPr/>
        </p:nvSpPr>
        <p:spPr>
          <a:xfrm>
            <a:off x="640080" y="4160520"/>
            <a:ext cx="5257800" cy="2148840"/>
          </a:xfrm>
          <a:prstGeom prst="roundRect">
            <a:avLst>
              <a:gd name="adj" fmla="val 4255"/>
            </a:avLst>
          </a:prstGeom>
          <a:solidFill>
            <a:srgbClr val="2C3A8C"/>
          </a:solidFill>
          <a:ln/>
          <a:effectLst>
            <a:outerShdw blurRad="101600" dist="38100" dir="5400000" algn="bl" rotWithShape="0">
              <a:srgbClr val="000000">
                <a:alpha val="25000"/>
              </a:srgbClr>
            </a:outerShdw>
          </a:effectLst>
        </p:spPr>
      </p:sp>
      <p:sp>
        <p:nvSpPr>
          <p:cNvPr id="14" name="Shape 10"/>
          <p:cNvSpPr/>
          <p:nvPr/>
        </p:nvSpPr>
        <p:spPr>
          <a:xfrm>
            <a:off x="914400" y="4434840"/>
            <a:ext cx="685800" cy="685800"/>
          </a:xfrm>
          <a:prstGeom prst="ellipse">
            <a:avLst/>
          </a:prstGeom>
          <a:solidFill>
            <a:srgbClr val="C9A24B"/>
          </a:solidFill>
          <a:ln/>
        </p:spPr>
      </p:sp>
      <p:pic>
        <p:nvPicPr>
          <p:cNvPr id="15" name="Image 2" descr="database.png"/>
          <p:cNvPicPr>
            <a:picLocks noChangeAspect="1"/>
          </p:cNvPicPr>
          <p:nvPr/>
        </p:nvPicPr>
        <p:blipFill>
          <a:blip r:embed="rId5"/>
          <a:stretch>
            <a:fillRect/>
          </a:stretch>
        </p:blipFill>
        <p:spPr>
          <a:xfrm>
            <a:off x="1092708" y="4613148"/>
            <a:ext cx="329184" cy="329184"/>
          </a:xfrm>
          <a:prstGeom prst="rect">
            <a:avLst/>
          </a:prstGeom>
        </p:spPr>
      </p:pic>
      <p:sp>
        <p:nvSpPr>
          <p:cNvPr id="16" name="Text 11"/>
          <p:cNvSpPr/>
          <p:nvPr/>
        </p:nvSpPr>
        <p:spPr>
          <a:xfrm>
            <a:off x="1783080" y="4389120"/>
            <a:ext cx="3886200" cy="502920"/>
          </a:xfrm>
          <a:prstGeom prst="rect">
            <a:avLst/>
          </a:prstGeom>
          <a:noFill/>
          <a:ln/>
        </p:spPr>
        <p:txBody>
          <a:bodyPr wrap="square" rtlCol="0" anchor="ctr"/>
          <a:lstStyle/>
          <a:p>
            <a:pPr marL="0" indent="0">
              <a:lnSpc>
                <a:spcPts val="1800"/>
              </a:lnSpc>
              <a:buNone/>
            </a:pPr>
            <a:r>
              <a:rPr lang="en-US" sz="1500" b="1" dirty="0">
                <a:solidFill>
                  <a:srgbClr val="FFFFFF"/>
                </a:solidFill>
                <a:latin typeface="Cambria" pitchFamily="34" charset="0"/>
                <a:ea typeface="Cambria" pitchFamily="34" charset="-122"/>
                <a:cs typeface="Cambria" pitchFamily="34" charset="-120"/>
              </a:rPr>
              <a:t>Fragmented Customer Data</a:t>
            </a:r>
            <a:endParaRPr lang="en-US" sz="1500" dirty="0"/>
          </a:p>
        </p:txBody>
      </p:sp>
      <p:sp>
        <p:nvSpPr>
          <p:cNvPr id="17" name="Text 12"/>
          <p:cNvSpPr/>
          <p:nvPr/>
        </p:nvSpPr>
        <p:spPr>
          <a:xfrm>
            <a:off x="914400" y="5212080"/>
            <a:ext cx="4709160" cy="960120"/>
          </a:xfrm>
          <a:prstGeom prst="rect">
            <a:avLst/>
          </a:prstGeom>
          <a:noFill/>
          <a:ln/>
        </p:spPr>
        <p:txBody>
          <a:bodyPr wrap="square" rtlCol="0" anchor="ctr"/>
          <a:lstStyle/>
          <a:p>
            <a:pPr marL="0" indent="0">
              <a:lnSpc>
                <a:spcPts val="1600"/>
              </a:lnSpc>
              <a:buNone/>
            </a:pPr>
            <a:r>
              <a:rPr lang="en-US" sz="1200" dirty="0">
                <a:solidFill>
                  <a:srgbClr val="CADCFC"/>
                </a:solidFill>
                <a:latin typeface="Calibri" pitchFamily="34" charset="0"/>
                <a:ea typeface="Calibri" pitchFamily="34" charset="-122"/>
                <a:cs typeface="Calibri" pitchFamily="34" charset="-120"/>
              </a:rPr>
              <a:t>Customer, policy, and claims data are scattered across disconnected systems and files.</a:t>
            </a:r>
            <a:endParaRPr lang="en-US" sz="1200" dirty="0"/>
          </a:p>
        </p:txBody>
      </p:sp>
      <p:sp>
        <p:nvSpPr>
          <p:cNvPr id="18" name="Shape 13"/>
          <p:cNvSpPr/>
          <p:nvPr/>
        </p:nvSpPr>
        <p:spPr>
          <a:xfrm>
            <a:off x="6263640" y="4160520"/>
            <a:ext cx="5257800" cy="2148840"/>
          </a:xfrm>
          <a:prstGeom prst="roundRect">
            <a:avLst>
              <a:gd name="adj" fmla="val 4255"/>
            </a:avLst>
          </a:prstGeom>
          <a:solidFill>
            <a:srgbClr val="2C3A8C"/>
          </a:solidFill>
          <a:ln/>
          <a:effectLst>
            <a:outerShdw blurRad="101600" dist="38100" dir="5400000" algn="bl" rotWithShape="0">
              <a:srgbClr val="000000">
                <a:alpha val="25000"/>
              </a:srgbClr>
            </a:outerShdw>
          </a:effectLst>
        </p:spPr>
      </p:sp>
      <p:sp>
        <p:nvSpPr>
          <p:cNvPr id="19" name="Shape 14"/>
          <p:cNvSpPr/>
          <p:nvPr/>
        </p:nvSpPr>
        <p:spPr>
          <a:xfrm>
            <a:off x="6537960" y="4434840"/>
            <a:ext cx="685800" cy="685800"/>
          </a:xfrm>
          <a:prstGeom prst="ellipse">
            <a:avLst/>
          </a:prstGeom>
          <a:solidFill>
            <a:srgbClr val="C9A24B"/>
          </a:solidFill>
          <a:ln/>
        </p:spPr>
      </p:sp>
      <p:pic>
        <p:nvPicPr>
          <p:cNvPr id="20" name="Image 3" descr="users.png"/>
          <p:cNvPicPr>
            <a:picLocks noChangeAspect="1"/>
          </p:cNvPicPr>
          <p:nvPr/>
        </p:nvPicPr>
        <p:blipFill>
          <a:blip r:embed="rId6"/>
          <a:stretch>
            <a:fillRect/>
          </a:stretch>
        </p:blipFill>
        <p:spPr>
          <a:xfrm>
            <a:off x="6716268" y="4613148"/>
            <a:ext cx="329184" cy="329184"/>
          </a:xfrm>
          <a:prstGeom prst="rect">
            <a:avLst/>
          </a:prstGeom>
        </p:spPr>
      </p:pic>
      <p:sp>
        <p:nvSpPr>
          <p:cNvPr id="21" name="Text 15"/>
          <p:cNvSpPr/>
          <p:nvPr/>
        </p:nvSpPr>
        <p:spPr>
          <a:xfrm>
            <a:off x="7406640" y="4389120"/>
            <a:ext cx="3886200" cy="502920"/>
          </a:xfrm>
          <a:prstGeom prst="rect">
            <a:avLst/>
          </a:prstGeom>
          <a:noFill/>
          <a:ln/>
        </p:spPr>
        <p:txBody>
          <a:bodyPr wrap="square" rtlCol="0" anchor="ctr"/>
          <a:lstStyle/>
          <a:p>
            <a:pPr marL="0" indent="0">
              <a:lnSpc>
                <a:spcPts val="1800"/>
              </a:lnSpc>
              <a:buNone/>
            </a:pPr>
            <a:r>
              <a:rPr lang="en-US" sz="1500" b="1" dirty="0">
                <a:solidFill>
                  <a:srgbClr val="FFFFFF"/>
                </a:solidFill>
                <a:latin typeface="Cambria" pitchFamily="34" charset="0"/>
                <a:ea typeface="Cambria" pitchFamily="34" charset="-122"/>
                <a:cs typeface="Cambria" pitchFamily="34" charset="-120"/>
              </a:rPr>
              <a:t>Slow, Opaque Claims Handling</a:t>
            </a:r>
            <a:endParaRPr lang="en-US" sz="1500" dirty="0"/>
          </a:p>
        </p:txBody>
      </p:sp>
      <p:sp>
        <p:nvSpPr>
          <p:cNvPr id="22" name="Text 16"/>
          <p:cNvSpPr/>
          <p:nvPr/>
        </p:nvSpPr>
        <p:spPr>
          <a:xfrm>
            <a:off x="6537960" y="5212080"/>
            <a:ext cx="4709160" cy="960120"/>
          </a:xfrm>
          <a:prstGeom prst="rect">
            <a:avLst/>
          </a:prstGeom>
          <a:noFill/>
          <a:ln/>
        </p:spPr>
        <p:txBody>
          <a:bodyPr wrap="square" rtlCol="0" anchor="ctr"/>
          <a:lstStyle/>
          <a:p>
            <a:pPr marL="0" indent="0">
              <a:lnSpc>
                <a:spcPts val="1600"/>
              </a:lnSpc>
              <a:buNone/>
            </a:pPr>
            <a:r>
              <a:rPr lang="en-US" sz="1200" dirty="0">
                <a:solidFill>
                  <a:srgbClr val="CADCFC"/>
                </a:solidFill>
                <a:latin typeface="Calibri" pitchFamily="34" charset="0"/>
                <a:ea typeface="Calibri" pitchFamily="34" charset="-122"/>
                <a:cs typeface="Calibri" pitchFamily="34" charset="-120"/>
              </a:rPr>
              <a:t>Policyholders lack visibility into claim status, resulting in frustration and repeated follow-ups.</a:t>
            </a:r>
            <a:endParaRPr lang="en-US" sz="1200" dirty="0"/>
          </a:p>
        </p:txBody>
      </p:sp>
      <p:sp>
        <p:nvSpPr>
          <p:cNvPr id="23" name="Text 17"/>
          <p:cNvSpPr/>
          <p:nvPr/>
        </p:nvSpPr>
        <p:spPr>
          <a:xfrm>
            <a:off x="11521440" y="6473952"/>
            <a:ext cx="548640" cy="274320"/>
          </a:xfrm>
          <a:prstGeom prst="rect">
            <a:avLst/>
          </a:prstGeom>
          <a:noFill/>
          <a:ln/>
        </p:spPr>
        <p:txBody>
          <a:bodyPr wrap="square"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03</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9144000" cy="640080"/>
          </a:xfrm>
          <a:prstGeom prst="rect">
            <a:avLst/>
          </a:prstGeom>
          <a:noFill/>
          <a:ln/>
        </p:spPr>
        <p:txBody>
          <a:bodyPr wrap="square"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Proposed Functionalities</a:t>
            </a:r>
            <a:endParaRPr lang="en-US" sz="3200" dirty="0"/>
          </a:p>
        </p:txBody>
      </p:sp>
      <p:sp>
        <p:nvSpPr>
          <p:cNvPr id="3" name="Shape 1"/>
          <p:cNvSpPr/>
          <p:nvPr/>
        </p:nvSpPr>
        <p:spPr>
          <a:xfrm>
            <a:off x="640080" y="1691640"/>
            <a:ext cx="3413760" cy="2103120"/>
          </a:xfrm>
          <a:prstGeom prst="roundRect">
            <a:avLst>
              <a:gd name="adj" fmla="val 3478"/>
            </a:avLst>
          </a:prstGeom>
          <a:solidFill>
            <a:srgbClr val="F5F7FC"/>
          </a:solidFill>
          <a:ln w="12700">
            <a:solidFill>
              <a:srgbClr val="CADCFC"/>
            </a:solidFill>
            <a:prstDash val="solid"/>
          </a:ln>
        </p:spPr>
      </p:sp>
      <p:sp>
        <p:nvSpPr>
          <p:cNvPr id="4" name="Shape 2"/>
          <p:cNvSpPr/>
          <p:nvPr/>
        </p:nvSpPr>
        <p:spPr>
          <a:xfrm>
            <a:off x="868680" y="1920240"/>
            <a:ext cx="594360" cy="594360"/>
          </a:xfrm>
          <a:prstGeom prst="ellipse">
            <a:avLst/>
          </a:prstGeom>
          <a:solidFill>
            <a:srgbClr val="1E2761"/>
          </a:solidFill>
          <a:ln/>
        </p:spPr>
      </p:sp>
      <p:pic>
        <p:nvPicPr>
          <p:cNvPr id="5" name="Image 0" descr="users.png"/>
          <p:cNvPicPr>
            <a:picLocks noChangeAspect="1"/>
          </p:cNvPicPr>
          <p:nvPr/>
        </p:nvPicPr>
        <p:blipFill>
          <a:blip r:embed="rId3"/>
          <a:stretch>
            <a:fillRect/>
          </a:stretch>
        </p:blipFill>
        <p:spPr>
          <a:xfrm>
            <a:off x="1023214" y="2074774"/>
            <a:ext cx="285293" cy="285293"/>
          </a:xfrm>
          <a:prstGeom prst="rect">
            <a:avLst/>
          </a:prstGeom>
        </p:spPr>
      </p:pic>
      <p:sp>
        <p:nvSpPr>
          <p:cNvPr id="6" name="Text 3"/>
          <p:cNvSpPr/>
          <p:nvPr/>
        </p:nvSpPr>
        <p:spPr>
          <a:xfrm>
            <a:off x="868680" y="2606040"/>
            <a:ext cx="2956560" cy="457200"/>
          </a:xfrm>
          <a:prstGeom prst="rect">
            <a:avLst/>
          </a:prstGeom>
          <a:noFill/>
          <a:ln/>
        </p:spPr>
        <p:txBody>
          <a:bodyPr wrap="square" rtlCol="0" anchor="ctr"/>
          <a:lstStyle/>
          <a:p>
            <a:pPr marL="0" indent="0">
              <a:lnSpc>
                <a:spcPts val="1600"/>
              </a:lnSpc>
              <a:buNone/>
            </a:pPr>
            <a:r>
              <a:rPr lang="en-US" sz="1350" b="1" dirty="0">
                <a:solidFill>
                  <a:srgbClr val="1E2761"/>
                </a:solidFill>
                <a:latin typeface="Cambria" pitchFamily="34" charset="0"/>
                <a:ea typeface="Cambria" pitchFamily="34" charset="-122"/>
                <a:cs typeface="Cambria" pitchFamily="34" charset="-120"/>
              </a:rPr>
              <a:t>User &amp; Role Management</a:t>
            </a:r>
            <a:endParaRPr lang="en-US" sz="1350" dirty="0"/>
          </a:p>
        </p:txBody>
      </p:sp>
      <p:sp>
        <p:nvSpPr>
          <p:cNvPr id="7" name="Text 4"/>
          <p:cNvSpPr/>
          <p:nvPr/>
        </p:nvSpPr>
        <p:spPr>
          <a:xfrm>
            <a:off x="868680" y="3044952"/>
            <a:ext cx="2956560" cy="685800"/>
          </a:xfrm>
          <a:prstGeom prst="rect">
            <a:avLst/>
          </a:prstGeom>
          <a:noFill/>
          <a:ln/>
        </p:spPr>
        <p:txBody>
          <a:bodyPr wrap="square" rtlCol="0" anchor="ctr"/>
          <a:lstStyle/>
          <a:p>
            <a:pPr marL="0" indent="0">
              <a:lnSpc>
                <a:spcPts val="1300"/>
              </a:lnSpc>
              <a:buNone/>
            </a:pPr>
            <a:r>
              <a:rPr lang="en-US" sz="1050" dirty="0">
                <a:solidFill>
                  <a:srgbClr val="1B1B2A"/>
                </a:solidFill>
                <a:latin typeface="Calibri" pitchFamily="34" charset="0"/>
                <a:ea typeface="Calibri" pitchFamily="34" charset="-122"/>
                <a:cs typeface="Calibri" pitchFamily="34" charset="-120"/>
              </a:rPr>
              <a:t>Separate dashboards for Admin, Agents, and Policyholders with secure, role-based access control.</a:t>
            </a:r>
            <a:endParaRPr lang="en-US" sz="1050" dirty="0"/>
          </a:p>
        </p:txBody>
      </p:sp>
      <p:sp>
        <p:nvSpPr>
          <p:cNvPr id="8" name="Shape 5"/>
          <p:cNvSpPr/>
          <p:nvPr/>
        </p:nvSpPr>
        <p:spPr>
          <a:xfrm>
            <a:off x="4373880" y="1691640"/>
            <a:ext cx="3413760" cy="2103120"/>
          </a:xfrm>
          <a:prstGeom prst="roundRect">
            <a:avLst>
              <a:gd name="adj" fmla="val 3478"/>
            </a:avLst>
          </a:prstGeom>
          <a:solidFill>
            <a:srgbClr val="F5F7FC"/>
          </a:solidFill>
          <a:ln w="12700">
            <a:solidFill>
              <a:srgbClr val="CADCFC"/>
            </a:solidFill>
            <a:prstDash val="solid"/>
          </a:ln>
        </p:spPr>
      </p:sp>
      <p:sp>
        <p:nvSpPr>
          <p:cNvPr id="9" name="Shape 6"/>
          <p:cNvSpPr/>
          <p:nvPr/>
        </p:nvSpPr>
        <p:spPr>
          <a:xfrm>
            <a:off x="4602480" y="1920240"/>
            <a:ext cx="594360" cy="594360"/>
          </a:xfrm>
          <a:prstGeom prst="ellipse">
            <a:avLst/>
          </a:prstGeom>
          <a:solidFill>
            <a:srgbClr val="1E2761"/>
          </a:solidFill>
          <a:ln/>
        </p:spPr>
      </p:sp>
      <p:pic>
        <p:nvPicPr>
          <p:cNvPr id="10" name="Image 1" descr="file.png"/>
          <p:cNvPicPr>
            <a:picLocks noChangeAspect="1"/>
          </p:cNvPicPr>
          <p:nvPr/>
        </p:nvPicPr>
        <p:blipFill>
          <a:blip r:embed="rId4"/>
          <a:stretch>
            <a:fillRect/>
          </a:stretch>
        </p:blipFill>
        <p:spPr>
          <a:xfrm>
            <a:off x="4757014" y="2074774"/>
            <a:ext cx="285293" cy="285293"/>
          </a:xfrm>
          <a:prstGeom prst="rect">
            <a:avLst/>
          </a:prstGeom>
        </p:spPr>
      </p:pic>
      <p:sp>
        <p:nvSpPr>
          <p:cNvPr id="11" name="Text 7"/>
          <p:cNvSpPr/>
          <p:nvPr/>
        </p:nvSpPr>
        <p:spPr>
          <a:xfrm>
            <a:off x="4602480" y="2606040"/>
            <a:ext cx="2956560" cy="457200"/>
          </a:xfrm>
          <a:prstGeom prst="rect">
            <a:avLst/>
          </a:prstGeom>
          <a:noFill/>
          <a:ln/>
        </p:spPr>
        <p:txBody>
          <a:bodyPr wrap="square" rtlCol="0" anchor="ctr"/>
          <a:lstStyle/>
          <a:p>
            <a:pPr marL="0" indent="0">
              <a:lnSpc>
                <a:spcPts val="1600"/>
              </a:lnSpc>
              <a:buNone/>
            </a:pPr>
            <a:r>
              <a:rPr lang="en-US" sz="1350" b="1" dirty="0">
                <a:solidFill>
                  <a:srgbClr val="1E2761"/>
                </a:solidFill>
                <a:latin typeface="Cambria" pitchFamily="34" charset="0"/>
                <a:ea typeface="Cambria" pitchFamily="34" charset="-122"/>
                <a:cs typeface="Cambria" pitchFamily="34" charset="-120"/>
              </a:rPr>
              <a:t>Policy Creation &amp; Management</a:t>
            </a:r>
            <a:endParaRPr lang="en-US" sz="1350" dirty="0"/>
          </a:p>
        </p:txBody>
      </p:sp>
      <p:sp>
        <p:nvSpPr>
          <p:cNvPr id="12" name="Text 8"/>
          <p:cNvSpPr/>
          <p:nvPr/>
        </p:nvSpPr>
        <p:spPr>
          <a:xfrm>
            <a:off x="4602480" y="3044952"/>
            <a:ext cx="2956560" cy="685800"/>
          </a:xfrm>
          <a:prstGeom prst="rect">
            <a:avLst/>
          </a:prstGeom>
          <a:noFill/>
          <a:ln/>
        </p:spPr>
        <p:txBody>
          <a:bodyPr wrap="square" rtlCol="0" anchor="ctr"/>
          <a:lstStyle/>
          <a:p>
            <a:pPr marL="0" indent="0">
              <a:lnSpc>
                <a:spcPts val="1300"/>
              </a:lnSpc>
              <a:buNone/>
            </a:pPr>
            <a:r>
              <a:rPr lang="en-US" sz="1050" dirty="0">
                <a:solidFill>
                  <a:srgbClr val="1B1B2A"/>
                </a:solidFill>
                <a:latin typeface="Calibri" pitchFamily="34" charset="0"/>
                <a:ea typeface="Calibri" pitchFamily="34" charset="-122"/>
                <a:cs typeface="Calibri" pitchFamily="34" charset="-120"/>
              </a:rPr>
              <a:t>Create, update, and track life, health, vehicle, and property insurance policies digitally.</a:t>
            </a:r>
            <a:endParaRPr lang="en-US" sz="1050" dirty="0"/>
          </a:p>
        </p:txBody>
      </p:sp>
      <p:sp>
        <p:nvSpPr>
          <p:cNvPr id="13" name="Shape 9"/>
          <p:cNvSpPr/>
          <p:nvPr/>
        </p:nvSpPr>
        <p:spPr>
          <a:xfrm>
            <a:off x="8107680" y="1691640"/>
            <a:ext cx="3413760" cy="2103120"/>
          </a:xfrm>
          <a:prstGeom prst="roundRect">
            <a:avLst>
              <a:gd name="adj" fmla="val 3478"/>
            </a:avLst>
          </a:prstGeom>
          <a:solidFill>
            <a:srgbClr val="F5F7FC"/>
          </a:solidFill>
          <a:ln w="12700">
            <a:solidFill>
              <a:srgbClr val="CADCFC"/>
            </a:solidFill>
            <a:prstDash val="solid"/>
          </a:ln>
        </p:spPr>
      </p:sp>
      <p:sp>
        <p:nvSpPr>
          <p:cNvPr id="14" name="Shape 10"/>
          <p:cNvSpPr/>
          <p:nvPr/>
        </p:nvSpPr>
        <p:spPr>
          <a:xfrm>
            <a:off x="8336280" y="1920240"/>
            <a:ext cx="594360" cy="594360"/>
          </a:xfrm>
          <a:prstGeom prst="ellipse">
            <a:avLst/>
          </a:prstGeom>
          <a:solidFill>
            <a:srgbClr val="1E2761"/>
          </a:solidFill>
          <a:ln/>
        </p:spPr>
      </p:sp>
      <p:pic>
        <p:nvPicPr>
          <p:cNvPr id="15" name="Image 2" descr="check.png"/>
          <p:cNvPicPr>
            <a:picLocks noChangeAspect="1"/>
          </p:cNvPicPr>
          <p:nvPr/>
        </p:nvPicPr>
        <p:blipFill>
          <a:blip r:embed="rId5"/>
          <a:stretch>
            <a:fillRect/>
          </a:stretch>
        </p:blipFill>
        <p:spPr>
          <a:xfrm>
            <a:off x="8490814" y="2074774"/>
            <a:ext cx="285293" cy="285293"/>
          </a:xfrm>
          <a:prstGeom prst="rect">
            <a:avLst/>
          </a:prstGeom>
        </p:spPr>
      </p:pic>
      <p:sp>
        <p:nvSpPr>
          <p:cNvPr id="16" name="Text 11"/>
          <p:cNvSpPr/>
          <p:nvPr/>
        </p:nvSpPr>
        <p:spPr>
          <a:xfrm>
            <a:off x="8336280" y="2606040"/>
            <a:ext cx="2956560" cy="457200"/>
          </a:xfrm>
          <a:prstGeom prst="rect">
            <a:avLst/>
          </a:prstGeom>
          <a:noFill/>
          <a:ln/>
        </p:spPr>
        <p:txBody>
          <a:bodyPr wrap="square" rtlCol="0" anchor="ctr"/>
          <a:lstStyle/>
          <a:p>
            <a:pPr marL="0" indent="0">
              <a:lnSpc>
                <a:spcPts val="1600"/>
              </a:lnSpc>
              <a:buNone/>
            </a:pPr>
            <a:r>
              <a:rPr lang="en-US" sz="1350" b="1" dirty="0">
                <a:solidFill>
                  <a:srgbClr val="1E2761"/>
                </a:solidFill>
                <a:latin typeface="Cambria" pitchFamily="34" charset="0"/>
                <a:ea typeface="Cambria" pitchFamily="34" charset="-122"/>
                <a:cs typeface="Cambria" pitchFamily="34" charset="-120"/>
              </a:rPr>
              <a:t>Premium &amp; Renewal Tracking</a:t>
            </a:r>
            <a:endParaRPr lang="en-US" sz="1350" dirty="0"/>
          </a:p>
        </p:txBody>
      </p:sp>
      <p:sp>
        <p:nvSpPr>
          <p:cNvPr id="17" name="Text 12"/>
          <p:cNvSpPr/>
          <p:nvPr/>
        </p:nvSpPr>
        <p:spPr>
          <a:xfrm>
            <a:off x="8336280" y="3044952"/>
            <a:ext cx="2956560" cy="685800"/>
          </a:xfrm>
          <a:prstGeom prst="rect">
            <a:avLst/>
          </a:prstGeom>
          <a:noFill/>
          <a:ln/>
        </p:spPr>
        <p:txBody>
          <a:bodyPr wrap="square" rtlCol="0" anchor="ctr"/>
          <a:lstStyle/>
          <a:p>
            <a:pPr marL="0" indent="0">
              <a:lnSpc>
                <a:spcPts val="1300"/>
              </a:lnSpc>
              <a:buNone/>
            </a:pPr>
            <a:r>
              <a:rPr lang="en-US" sz="1050" dirty="0">
                <a:solidFill>
                  <a:srgbClr val="1B1B2A"/>
                </a:solidFill>
                <a:latin typeface="Calibri" pitchFamily="34" charset="0"/>
                <a:ea typeface="Calibri" pitchFamily="34" charset="-122"/>
                <a:cs typeface="Calibri" pitchFamily="34" charset="-120"/>
              </a:rPr>
              <a:t>Automated premium calculation, due-date tracking, and renewal notifications via email/SMS.</a:t>
            </a:r>
            <a:endParaRPr lang="en-US" sz="1050" dirty="0"/>
          </a:p>
        </p:txBody>
      </p:sp>
      <p:sp>
        <p:nvSpPr>
          <p:cNvPr id="18" name="Shape 13"/>
          <p:cNvSpPr/>
          <p:nvPr/>
        </p:nvSpPr>
        <p:spPr>
          <a:xfrm>
            <a:off x="640080" y="4114800"/>
            <a:ext cx="3413760" cy="2103120"/>
          </a:xfrm>
          <a:prstGeom prst="roundRect">
            <a:avLst>
              <a:gd name="adj" fmla="val 3478"/>
            </a:avLst>
          </a:prstGeom>
          <a:solidFill>
            <a:srgbClr val="F5F7FC"/>
          </a:solidFill>
          <a:ln w="12700">
            <a:solidFill>
              <a:srgbClr val="CADCFC"/>
            </a:solidFill>
            <a:prstDash val="solid"/>
          </a:ln>
        </p:spPr>
      </p:sp>
      <p:sp>
        <p:nvSpPr>
          <p:cNvPr id="19" name="Shape 14"/>
          <p:cNvSpPr/>
          <p:nvPr/>
        </p:nvSpPr>
        <p:spPr>
          <a:xfrm>
            <a:off x="868680" y="4343400"/>
            <a:ext cx="594360" cy="594360"/>
          </a:xfrm>
          <a:prstGeom prst="ellipse">
            <a:avLst/>
          </a:prstGeom>
          <a:solidFill>
            <a:srgbClr val="1E2761"/>
          </a:solidFill>
          <a:ln/>
        </p:spPr>
      </p:sp>
      <p:pic>
        <p:nvPicPr>
          <p:cNvPr id="20" name="Image 3" descr="alert.png"/>
          <p:cNvPicPr>
            <a:picLocks noChangeAspect="1"/>
          </p:cNvPicPr>
          <p:nvPr/>
        </p:nvPicPr>
        <p:blipFill>
          <a:blip r:embed="rId6"/>
          <a:stretch>
            <a:fillRect/>
          </a:stretch>
        </p:blipFill>
        <p:spPr>
          <a:xfrm>
            <a:off x="1023214" y="4497934"/>
            <a:ext cx="285293" cy="285293"/>
          </a:xfrm>
          <a:prstGeom prst="rect">
            <a:avLst/>
          </a:prstGeom>
        </p:spPr>
      </p:pic>
      <p:sp>
        <p:nvSpPr>
          <p:cNvPr id="21" name="Text 15"/>
          <p:cNvSpPr/>
          <p:nvPr/>
        </p:nvSpPr>
        <p:spPr>
          <a:xfrm>
            <a:off x="868680" y="5029200"/>
            <a:ext cx="2956560" cy="457200"/>
          </a:xfrm>
          <a:prstGeom prst="rect">
            <a:avLst/>
          </a:prstGeom>
          <a:noFill/>
          <a:ln/>
        </p:spPr>
        <p:txBody>
          <a:bodyPr wrap="square" rtlCol="0" anchor="ctr"/>
          <a:lstStyle/>
          <a:p>
            <a:pPr marL="0" indent="0">
              <a:lnSpc>
                <a:spcPts val="1600"/>
              </a:lnSpc>
              <a:buNone/>
            </a:pPr>
            <a:r>
              <a:rPr lang="en-US" sz="1350" b="1" dirty="0">
                <a:solidFill>
                  <a:srgbClr val="1E2761"/>
                </a:solidFill>
                <a:latin typeface="Cambria" pitchFamily="34" charset="0"/>
                <a:ea typeface="Cambria" pitchFamily="34" charset="-122"/>
                <a:cs typeface="Cambria" pitchFamily="34" charset="-120"/>
              </a:rPr>
              <a:t>Claims Processing</a:t>
            </a:r>
            <a:endParaRPr lang="en-US" sz="1350" dirty="0"/>
          </a:p>
        </p:txBody>
      </p:sp>
      <p:sp>
        <p:nvSpPr>
          <p:cNvPr id="22" name="Text 16"/>
          <p:cNvSpPr/>
          <p:nvPr/>
        </p:nvSpPr>
        <p:spPr>
          <a:xfrm>
            <a:off x="868680" y="5468112"/>
            <a:ext cx="2956560" cy="685800"/>
          </a:xfrm>
          <a:prstGeom prst="rect">
            <a:avLst/>
          </a:prstGeom>
          <a:noFill/>
          <a:ln/>
        </p:spPr>
        <p:txBody>
          <a:bodyPr wrap="square" rtlCol="0" anchor="ctr"/>
          <a:lstStyle/>
          <a:p>
            <a:pPr marL="0" indent="0">
              <a:lnSpc>
                <a:spcPts val="1300"/>
              </a:lnSpc>
              <a:buNone/>
            </a:pPr>
            <a:r>
              <a:rPr lang="en-US" sz="1050" dirty="0">
                <a:solidFill>
                  <a:srgbClr val="1B1B2A"/>
                </a:solidFill>
                <a:latin typeface="Calibri" pitchFamily="34" charset="0"/>
                <a:ea typeface="Calibri" pitchFamily="34" charset="-122"/>
                <a:cs typeface="Calibri" pitchFamily="34" charset="-120"/>
              </a:rPr>
              <a:t>Online claim submission, document upload, and real-time status tracking for policyholders.</a:t>
            </a:r>
            <a:endParaRPr lang="en-US" sz="1050" dirty="0"/>
          </a:p>
        </p:txBody>
      </p:sp>
      <p:sp>
        <p:nvSpPr>
          <p:cNvPr id="23" name="Shape 17"/>
          <p:cNvSpPr/>
          <p:nvPr/>
        </p:nvSpPr>
        <p:spPr>
          <a:xfrm>
            <a:off x="4373880" y="4114800"/>
            <a:ext cx="3413760" cy="2103120"/>
          </a:xfrm>
          <a:prstGeom prst="roundRect">
            <a:avLst>
              <a:gd name="adj" fmla="val 3478"/>
            </a:avLst>
          </a:prstGeom>
          <a:solidFill>
            <a:srgbClr val="F5F7FC"/>
          </a:solidFill>
          <a:ln w="12700">
            <a:solidFill>
              <a:srgbClr val="CADCFC"/>
            </a:solidFill>
            <a:prstDash val="solid"/>
          </a:ln>
        </p:spPr>
      </p:sp>
      <p:sp>
        <p:nvSpPr>
          <p:cNvPr id="24" name="Shape 18"/>
          <p:cNvSpPr/>
          <p:nvPr/>
        </p:nvSpPr>
        <p:spPr>
          <a:xfrm>
            <a:off x="4602480" y="4343400"/>
            <a:ext cx="594360" cy="594360"/>
          </a:xfrm>
          <a:prstGeom prst="ellipse">
            <a:avLst/>
          </a:prstGeom>
          <a:solidFill>
            <a:srgbClr val="1E2761"/>
          </a:solidFill>
          <a:ln/>
        </p:spPr>
      </p:sp>
      <p:pic>
        <p:nvPicPr>
          <p:cNvPr id="25" name="Image 4" descr="database.png"/>
          <p:cNvPicPr>
            <a:picLocks noChangeAspect="1"/>
          </p:cNvPicPr>
          <p:nvPr/>
        </p:nvPicPr>
        <p:blipFill>
          <a:blip r:embed="rId7"/>
          <a:stretch>
            <a:fillRect/>
          </a:stretch>
        </p:blipFill>
        <p:spPr>
          <a:xfrm>
            <a:off x="4757014" y="4497934"/>
            <a:ext cx="285293" cy="285293"/>
          </a:xfrm>
          <a:prstGeom prst="rect">
            <a:avLst/>
          </a:prstGeom>
        </p:spPr>
      </p:pic>
      <p:sp>
        <p:nvSpPr>
          <p:cNvPr id="26" name="Text 19"/>
          <p:cNvSpPr/>
          <p:nvPr/>
        </p:nvSpPr>
        <p:spPr>
          <a:xfrm>
            <a:off x="4602480" y="5029200"/>
            <a:ext cx="2956560" cy="457200"/>
          </a:xfrm>
          <a:prstGeom prst="rect">
            <a:avLst/>
          </a:prstGeom>
          <a:noFill/>
          <a:ln/>
        </p:spPr>
        <p:txBody>
          <a:bodyPr wrap="square" rtlCol="0" anchor="ctr"/>
          <a:lstStyle/>
          <a:p>
            <a:pPr marL="0" indent="0">
              <a:lnSpc>
                <a:spcPts val="1600"/>
              </a:lnSpc>
              <a:buNone/>
            </a:pPr>
            <a:r>
              <a:rPr lang="en-US" sz="1350" b="1" dirty="0">
                <a:solidFill>
                  <a:srgbClr val="1E2761"/>
                </a:solidFill>
                <a:latin typeface="Cambria" pitchFamily="34" charset="0"/>
                <a:ea typeface="Cambria" pitchFamily="34" charset="-122"/>
                <a:cs typeface="Cambria" pitchFamily="34" charset="-120"/>
              </a:rPr>
              <a:t>Centralized Records</a:t>
            </a:r>
            <a:endParaRPr lang="en-US" sz="1350" dirty="0"/>
          </a:p>
        </p:txBody>
      </p:sp>
      <p:sp>
        <p:nvSpPr>
          <p:cNvPr id="27" name="Text 20"/>
          <p:cNvSpPr/>
          <p:nvPr/>
        </p:nvSpPr>
        <p:spPr>
          <a:xfrm>
            <a:off x="4602480" y="5468112"/>
            <a:ext cx="2956560" cy="685800"/>
          </a:xfrm>
          <a:prstGeom prst="rect">
            <a:avLst/>
          </a:prstGeom>
          <a:noFill/>
          <a:ln/>
        </p:spPr>
        <p:txBody>
          <a:bodyPr wrap="square" rtlCol="0" anchor="ctr"/>
          <a:lstStyle/>
          <a:p>
            <a:pPr marL="0" indent="0">
              <a:lnSpc>
                <a:spcPts val="1300"/>
              </a:lnSpc>
              <a:buNone/>
            </a:pPr>
            <a:r>
              <a:rPr lang="en-US" sz="1050" dirty="0">
                <a:solidFill>
                  <a:srgbClr val="1B1B2A"/>
                </a:solidFill>
                <a:latin typeface="Calibri" pitchFamily="34" charset="0"/>
                <a:ea typeface="Calibri" pitchFamily="34" charset="-122"/>
                <a:cs typeface="Calibri" pitchFamily="34" charset="-120"/>
              </a:rPr>
              <a:t>Single, secure repository for all customer, policy, and transaction data.</a:t>
            </a:r>
            <a:endParaRPr lang="en-US" sz="1050" dirty="0"/>
          </a:p>
        </p:txBody>
      </p:sp>
      <p:sp>
        <p:nvSpPr>
          <p:cNvPr id="28" name="Shape 21"/>
          <p:cNvSpPr/>
          <p:nvPr/>
        </p:nvSpPr>
        <p:spPr>
          <a:xfrm>
            <a:off x="8107680" y="4114800"/>
            <a:ext cx="3413760" cy="2103120"/>
          </a:xfrm>
          <a:prstGeom prst="roundRect">
            <a:avLst>
              <a:gd name="adj" fmla="val 3478"/>
            </a:avLst>
          </a:prstGeom>
          <a:solidFill>
            <a:srgbClr val="F5F7FC"/>
          </a:solidFill>
          <a:ln w="12700">
            <a:solidFill>
              <a:srgbClr val="CADCFC"/>
            </a:solidFill>
            <a:prstDash val="solid"/>
          </a:ln>
        </p:spPr>
      </p:sp>
      <p:sp>
        <p:nvSpPr>
          <p:cNvPr id="29" name="Shape 22"/>
          <p:cNvSpPr/>
          <p:nvPr/>
        </p:nvSpPr>
        <p:spPr>
          <a:xfrm>
            <a:off x="8336280" y="4343400"/>
            <a:ext cx="594360" cy="594360"/>
          </a:xfrm>
          <a:prstGeom prst="ellipse">
            <a:avLst/>
          </a:prstGeom>
          <a:solidFill>
            <a:srgbClr val="1E2761"/>
          </a:solidFill>
          <a:ln/>
        </p:spPr>
      </p:sp>
      <p:pic>
        <p:nvPicPr>
          <p:cNvPr id="30" name="Image 5" descr="trending.png"/>
          <p:cNvPicPr>
            <a:picLocks noChangeAspect="1"/>
          </p:cNvPicPr>
          <p:nvPr/>
        </p:nvPicPr>
        <p:blipFill>
          <a:blip r:embed="rId8"/>
          <a:stretch>
            <a:fillRect/>
          </a:stretch>
        </p:blipFill>
        <p:spPr>
          <a:xfrm>
            <a:off x="8490814" y="4497934"/>
            <a:ext cx="285293" cy="285293"/>
          </a:xfrm>
          <a:prstGeom prst="rect">
            <a:avLst/>
          </a:prstGeom>
        </p:spPr>
      </p:pic>
      <p:sp>
        <p:nvSpPr>
          <p:cNvPr id="31" name="Text 23"/>
          <p:cNvSpPr/>
          <p:nvPr/>
        </p:nvSpPr>
        <p:spPr>
          <a:xfrm>
            <a:off x="8336280" y="5029200"/>
            <a:ext cx="2956560" cy="457200"/>
          </a:xfrm>
          <a:prstGeom prst="rect">
            <a:avLst/>
          </a:prstGeom>
          <a:noFill/>
          <a:ln/>
        </p:spPr>
        <p:txBody>
          <a:bodyPr wrap="square" rtlCol="0" anchor="ctr"/>
          <a:lstStyle/>
          <a:p>
            <a:pPr marL="0" indent="0">
              <a:lnSpc>
                <a:spcPts val="1600"/>
              </a:lnSpc>
              <a:buNone/>
            </a:pPr>
            <a:r>
              <a:rPr lang="en-US" sz="1350" b="1" dirty="0">
                <a:solidFill>
                  <a:srgbClr val="1E2761"/>
                </a:solidFill>
                <a:latin typeface="Cambria" pitchFamily="34" charset="0"/>
                <a:ea typeface="Cambria" pitchFamily="34" charset="-122"/>
                <a:cs typeface="Cambria" pitchFamily="34" charset="-120"/>
              </a:rPr>
              <a:t>Reports &amp; Analytics</a:t>
            </a:r>
            <a:endParaRPr lang="en-US" sz="1350" dirty="0"/>
          </a:p>
        </p:txBody>
      </p:sp>
      <p:sp>
        <p:nvSpPr>
          <p:cNvPr id="32" name="Text 24"/>
          <p:cNvSpPr/>
          <p:nvPr/>
        </p:nvSpPr>
        <p:spPr>
          <a:xfrm>
            <a:off x="8336280" y="5468112"/>
            <a:ext cx="2956560" cy="685800"/>
          </a:xfrm>
          <a:prstGeom prst="rect">
            <a:avLst/>
          </a:prstGeom>
          <a:noFill/>
          <a:ln/>
        </p:spPr>
        <p:txBody>
          <a:bodyPr wrap="square" rtlCol="0" anchor="ctr"/>
          <a:lstStyle/>
          <a:p>
            <a:pPr marL="0" indent="0">
              <a:lnSpc>
                <a:spcPts val="1300"/>
              </a:lnSpc>
              <a:buNone/>
            </a:pPr>
            <a:r>
              <a:rPr lang="en-US" sz="1050" dirty="0">
                <a:solidFill>
                  <a:srgbClr val="1B1B2A"/>
                </a:solidFill>
                <a:latin typeface="Calibri" pitchFamily="34" charset="0"/>
                <a:ea typeface="Calibri" pitchFamily="34" charset="-122"/>
                <a:cs typeface="Calibri" pitchFamily="34" charset="-120"/>
              </a:rPr>
              <a:t>Dashboards for policy sales, claim trends, and revenue insights for administrators.</a:t>
            </a:r>
            <a:endParaRPr lang="en-US" sz="1050" dirty="0"/>
          </a:p>
        </p:txBody>
      </p:sp>
      <p:sp>
        <p:nvSpPr>
          <p:cNvPr id="33" name="Text 25"/>
          <p:cNvSpPr/>
          <p:nvPr/>
        </p:nvSpPr>
        <p:spPr>
          <a:xfrm>
            <a:off x="11521440" y="6473952"/>
            <a:ext cx="548640" cy="274320"/>
          </a:xfrm>
          <a:prstGeom prst="rect">
            <a:avLst/>
          </a:prstGeom>
          <a:noFill/>
          <a:ln/>
        </p:spPr>
        <p:txBody>
          <a:bodyPr wrap="square"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04</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640080" y="457200"/>
            <a:ext cx="8229600" cy="640080"/>
          </a:xfrm>
          <a:prstGeom prst="rect">
            <a:avLst/>
          </a:prstGeom>
          <a:noFill/>
          <a:ln/>
        </p:spPr>
        <p:txBody>
          <a:bodyPr wrap="square"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Tools &amp; Technologies</a:t>
            </a:r>
            <a:endParaRPr lang="en-US" sz="3400" dirty="0"/>
          </a:p>
        </p:txBody>
      </p:sp>
      <p:sp>
        <p:nvSpPr>
          <p:cNvPr id="3" name="Shape 1"/>
          <p:cNvSpPr/>
          <p:nvPr/>
        </p:nvSpPr>
        <p:spPr>
          <a:xfrm>
            <a:off x="640080" y="1874520"/>
            <a:ext cx="10881360" cy="713232"/>
          </a:xfrm>
          <a:prstGeom prst="roundRect">
            <a:avLst>
              <a:gd name="adj" fmla="val 7692"/>
            </a:avLst>
          </a:prstGeom>
          <a:solidFill>
            <a:srgbClr val="2C3A8C"/>
          </a:solidFill>
          <a:ln/>
        </p:spPr>
      </p:sp>
      <p:sp>
        <p:nvSpPr>
          <p:cNvPr id="4" name="Shape 2"/>
          <p:cNvSpPr/>
          <p:nvPr/>
        </p:nvSpPr>
        <p:spPr>
          <a:xfrm>
            <a:off x="640080" y="1874520"/>
            <a:ext cx="2377440" cy="713232"/>
          </a:xfrm>
          <a:prstGeom prst="roundRect">
            <a:avLst>
              <a:gd name="adj" fmla="val 7692"/>
            </a:avLst>
          </a:prstGeom>
          <a:solidFill>
            <a:srgbClr val="C9A24B"/>
          </a:solidFill>
          <a:ln/>
        </p:spPr>
      </p:sp>
      <p:sp>
        <p:nvSpPr>
          <p:cNvPr id="5" name="Text 3"/>
          <p:cNvSpPr/>
          <p:nvPr/>
        </p:nvSpPr>
        <p:spPr>
          <a:xfrm>
            <a:off x="868680" y="1874520"/>
            <a:ext cx="1920240" cy="713232"/>
          </a:xfrm>
          <a:prstGeom prst="rect">
            <a:avLst/>
          </a:prstGeom>
          <a:noFill/>
          <a:ln/>
        </p:spPr>
        <p:txBody>
          <a:bodyPr wrap="square" rtlCol="0" anchor="ctr"/>
          <a:lstStyle/>
          <a:p>
            <a:pPr marL="0" indent="0">
              <a:buNone/>
            </a:pPr>
            <a:r>
              <a:rPr lang="en-US" sz="1300" b="1" dirty="0">
                <a:solidFill>
                  <a:srgbClr val="1E2761"/>
                </a:solidFill>
                <a:latin typeface="Cambria" pitchFamily="34" charset="0"/>
                <a:ea typeface="Cambria" pitchFamily="34" charset="-122"/>
                <a:cs typeface="Cambria" pitchFamily="34" charset="-120"/>
              </a:rPr>
              <a:t>FRONTEND</a:t>
            </a:r>
            <a:endParaRPr lang="en-US" sz="1300" dirty="0"/>
          </a:p>
        </p:txBody>
      </p:sp>
      <p:sp>
        <p:nvSpPr>
          <p:cNvPr id="6" name="Text 4"/>
          <p:cNvSpPr/>
          <p:nvPr/>
        </p:nvSpPr>
        <p:spPr>
          <a:xfrm>
            <a:off x="3291840" y="1874520"/>
            <a:ext cx="8046720" cy="713232"/>
          </a:xfrm>
          <a:prstGeom prst="rect">
            <a:avLst/>
          </a:prstGeom>
          <a:noFill/>
          <a:ln/>
        </p:spPr>
        <p:txBody>
          <a:bodyPr wrap="square" rtlCol="0" anchor="ctr"/>
          <a:lstStyle/>
          <a:p>
            <a:pPr marL="0" indent="0">
              <a:buNone/>
            </a:pPr>
            <a:r>
              <a:rPr lang="en-US" sz="1350" dirty="0">
                <a:solidFill>
                  <a:srgbClr val="FFFFFF"/>
                </a:solidFill>
                <a:latin typeface="Calibri" pitchFamily="34" charset="0"/>
                <a:ea typeface="Calibri" pitchFamily="34" charset="-122"/>
                <a:cs typeface="Calibri" pitchFamily="34" charset="-120"/>
              </a:rPr>
              <a:t>HTML5, CSS3, JavaScript, React.js, Bootstrap</a:t>
            </a:r>
            <a:endParaRPr lang="en-US" sz="1350" dirty="0"/>
          </a:p>
        </p:txBody>
      </p:sp>
      <p:sp>
        <p:nvSpPr>
          <p:cNvPr id="7" name="Shape 5"/>
          <p:cNvSpPr/>
          <p:nvPr/>
        </p:nvSpPr>
        <p:spPr>
          <a:xfrm>
            <a:off x="640080" y="2660904"/>
            <a:ext cx="10881360" cy="713232"/>
          </a:xfrm>
          <a:prstGeom prst="roundRect">
            <a:avLst>
              <a:gd name="adj" fmla="val 7692"/>
            </a:avLst>
          </a:prstGeom>
          <a:solidFill>
            <a:srgbClr val="1E2761"/>
          </a:solidFill>
          <a:ln/>
        </p:spPr>
      </p:sp>
      <p:sp>
        <p:nvSpPr>
          <p:cNvPr id="8" name="Shape 6"/>
          <p:cNvSpPr/>
          <p:nvPr/>
        </p:nvSpPr>
        <p:spPr>
          <a:xfrm>
            <a:off x="640080" y="2660904"/>
            <a:ext cx="2377440" cy="713232"/>
          </a:xfrm>
          <a:prstGeom prst="roundRect">
            <a:avLst>
              <a:gd name="adj" fmla="val 7692"/>
            </a:avLst>
          </a:prstGeom>
          <a:solidFill>
            <a:srgbClr val="C9A24B"/>
          </a:solidFill>
          <a:ln/>
        </p:spPr>
      </p:sp>
      <p:sp>
        <p:nvSpPr>
          <p:cNvPr id="9" name="Text 7"/>
          <p:cNvSpPr/>
          <p:nvPr/>
        </p:nvSpPr>
        <p:spPr>
          <a:xfrm>
            <a:off x="868680" y="2660904"/>
            <a:ext cx="1920240" cy="713232"/>
          </a:xfrm>
          <a:prstGeom prst="rect">
            <a:avLst/>
          </a:prstGeom>
          <a:noFill/>
          <a:ln/>
        </p:spPr>
        <p:txBody>
          <a:bodyPr wrap="square" rtlCol="0" anchor="ctr"/>
          <a:lstStyle/>
          <a:p>
            <a:pPr marL="0" indent="0">
              <a:buNone/>
            </a:pPr>
            <a:r>
              <a:rPr lang="en-US" sz="1300" b="1" dirty="0">
                <a:solidFill>
                  <a:srgbClr val="1E2761"/>
                </a:solidFill>
                <a:latin typeface="Cambria" pitchFamily="34" charset="0"/>
                <a:ea typeface="Cambria" pitchFamily="34" charset="-122"/>
                <a:cs typeface="Cambria" pitchFamily="34" charset="-120"/>
              </a:rPr>
              <a:t>BACKEND</a:t>
            </a:r>
            <a:endParaRPr lang="en-US" sz="1300" dirty="0"/>
          </a:p>
        </p:txBody>
      </p:sp>
      <p:sp>
        <p:nvSpPr>
          <p:cNvPr id="10" name="Text 8"/>
          <p:cNvSpPr/>
          <p:nvPr/>
        </p:nvSpPr>
        <p:spPr>
          <a:xfrm>
            <a:off x="3291840" y="2660904"/>
            <a:ext cx="8046720" cy="713232"/>
          </a:xfrm>
          <a:prstGeom prst="rect">
            <a:avLst/>
          </a:prstGeom>
          <a:noFill/>
          <a:ln/>
        </p:spPr>
        <p:txBody>
          <a:bodyPr wrap="square" rtlCol="0" anchor="ctr"/>
          <a:lstStyle/>
          <a:p>
            <a:pPr marL="0" indent="0">
              <a:buNone/>
            </a:pPr>
            <a:r>
              <a:rPr lang="en-US" sz="1350" dirty="0">
                <a:solidFill>
                  <a:srgbClr val="FFFFFF"/>
                </a:solidFill>
                <a:latin typeface="Calibri" pitchFamily="34" charset="0"/>
                <a:ea typeface="Calibri" pitchFamily="34" charset="-122"/>
                <a:cs typeface="Calibri" pitchFamily="34" charset="-120"/>
              </a:rPr>
              <a:t>Node.js / Java (Spring Boot) / Python (Django)</a:t>
            </a:r>
            <a:endParaRPr lang="en-US" sz="1350" dirty="0"/>
          </a:p>
        </p:txBody>
      </p:sp>
      <p:sp>
        <p:nvSpPr>
          <p:cNvPr id="11" name="Shape 9"/>
          <p:cNvSpPr/>
          <p:nvPr/>
        </p:nvSpPr>
        <p:spPr>
          <a:xfrm>
            <a:off x="640080" y="3447288"/>
            <a:ext cx="10881360" cy="713232"/>
          </a:xfrm>
          <a:prstGeom prst="roundRect">
            <a:avLst>
              <a:gd name="adj" fmla="val 7692"/>
            </a:avLst>
          </a:prstGeom>
          <a:solidFill>
            <a:srgbClr val="2C3A8C"/>
          </a:solidFill>
          <a:ln/>
        </p:spPr>
      </p:sp>
      <p:sp>
        <p:nvSpPr>
          <p:cNvPr id="12" name="Shape 10"/>
          <p:cNvSpPr/>
          <p:nvPr/>
        </p:nvSpPr>
        <p:spPr>
          <a:xfrm>
            <a:off x="640080" y="3447288"/>
            <a:ext cx="2377440" cy="713232"/>
          </a:xfrm>
          <a:prstGeom prst="roundRect">
            <a:avLst>
              <a:gd name="adj" fmla="val 7692"/>
            </a:avLst>
          </a:prstGeom>
          <a:solidFill>
            <a:srgbClr val="C9A24B"/>
          </a:solidFill>
          <a:ln/>
        </p:spPr>
      </p:sp>
      <p:sp>
        <p:nvSpPr>
          <p:cNvPr id="13" name="Text 11"/>
          <p:cNvSpPr/>
          <p:nvPr/>
        </p:nvSpPr>
        <p:spPr>
          <a:xfrm>
            <a:off x="868680" y="3447288"/>
            <a:ext cx="1920240" cy="713232"/>
          </a:xfrm>
          <a:prstGeom prst="rect">
            <a:avLst/>
          </a:prstGeom>
          <a:noFill/>
          <a:ln/>
        </p:spPr>
        <p:txBody>
          <a:bodyPr wrap="square" rtlCol="0" anchor="ctr"/>
          <a:lstStyle/>
          <a:p>
            <a:pPr marL="0" indent="0">
              <a:buNone/>
            </a:pPr>
            <a:r>
              <a:rPr lang="en-US" sz="1300" b="1" dirty="0">
                <a:solidFill>
                  <a:srgbClr val="1E2761"/>
                </a:solidFill>
                <a:latin typeface="Cambria" pitchFamily="34" charset="0"/>
                <a:ea typeface="Cambria" pitchFamily="34" charset="-122"/>
                <a:cs typeface="Cambria" pitchFamily="34" charset="-120"/>
              </a:rPr>
              <a:t>DATABASE</a:t>
            </a:r>
            <a:endParaRPr lang="en-US" sz="1300" dirty="0"/>
          </a:p>
        </p:txBody>
      </p:sp>
      <p:sp>
        <p:nvSpPr>
          <p:cNvPr id="14" name="Text 12"/>
          <p:cNvSpPr/>
          <p:nvPr/>
        </p:nvSpPr>
        <p:spPr>
          <a:xfrm>
            <a:off x="3291840" y="3447288"/>
            <a:ext cx="8046720" cy="713232"/>
          </a:xfrm>
          <a:prstGeom prst="rect">
            <a:avLst/>
          </a:prstGeom>
          <a:noFill/>
          <a:ln/>
        </p:spPr>
        <p:txBody>
          <a:bodyPr wrap="square" rtlCol="0" anchor="ctr"/>
          <a:lstStyle/>
          <a:p>
            <a:pPr marL="0" indent="0">
              <a:buNone/>
            </a:pPr>
            <a:r>
              <a:rPr lang="en-US" sz="1350" dirty="0">
                <a:solidFill>
                  <a:srgbClr val="FFFFFF"/>
                </a:solidFill>
                <a:latin typeface="Calibri" pitchFamily="34" charset="0"/>
                <a:ea typeface="Calibri" pitchFamily="34" charset="-122"/>
                <a:cs typeface="Calibri" pitchFamily="34" charset="-120"/>
              </a:rPr>
              <a:t>MySQL / MongoDB</a:t>
            </a:r>
            <a:endParaRPr lang="en-US" sz="1350" dirty="0"/>
          </a:p>
        </p:txBody>
      </p:sp>
      <p:sp>
        <p:nvSpPr>
          <p:cNvPr id="15" name="Shape 13"/>
          <p:cNvSpPr/>
          <p:nvPr/>
        </p:nvSpPr>
        <p:spPr>
          <a:xfrm>
            <a:off x="640080" y="4233672"/>
            <a:ext cx="10881360" cy="713232"/>
          </a:xfrm>
          <a:prstGeom prst="roundRect">
            <a:avLst>
              <a:gd name="adj" fmla="val 7692"/>
            </a:avLst>
          </a:prstGeom>
          <a:solidFill>
            <a:srgbClr val="1E2761"/>
          </a:solidFill>
          <a:ln/>
        </p:spPr>
      </p:sp>
      <p:sp>
        <p:nvSpPr>
          <p:cNvPr id="16" name="Shape 14"/>
          <p:cNvSpPr/>
          <p:nvPr/>
        </p:nvSpPr>
        <p:spPr>
          <a:xfrm>
            <a:off x="640080" y="4233672"/>
            <a:ext cx="2377440" cy="713232"/>
          </a:xfrm>
          <a:prstGeom prst="roundRect">
            <a:avLst>
              <a:gd name="adj" fmla="val 7692"/>
            </a:avLst>
          </a:prstGeom>
          <a:solidFill>
            <a:srgbClr val="C9A24B"/>
          </a:solidFill>
          <a:ln/>
        </p:spPr>
      </p:sp>
      <p:sp>
        <p:nvSpPr>
          <p:cNvPr id="17" name="Text 15"/>
          <p:cNvSpPr/>
          <p:nvPr/>
        </p:nvSpPr>
        <p:spPr>
          <a:xfrm>
            <a:off x="868680" y="4233672"/>
            <a:ext cx="1920240" cy="713232"/>
          </a:xfrm>
          <a:prstGeom prst="rect">
            <a:avLst/>
          </a:prstGeom>
          <a:noFill/>
          <a:ln/>
        </p:spPr>
        <p:txBody>
          <a:bodyPr wrap="square" rtlCol="0" anchor="ctr"/>
          <a:lstStyle/>
          <a:p>
            <a:pPr marL="0" indent="0">
              <a:buNone/>
            </a:pPr>
            <a:r>
              <a:rPr lang="en-US" sz="1300" b="1" dirty="0">
                <a:solidFill>
                  <a:srgbClr val="1E2761"/>
                </a:solidFill>
                <a:latin typeface="Cambria" pitchFamily="34" charset="0"/>
                <a:ea typeface="Cambria" pitchFamily="34" charset="-122"/>
                <a:cs typeface="Cambria" pitchFamily="34" charset="-120"/>
              </a:rPr>
              <a:t>AUTHENTICATION</a:t>
            </a:r>
            <a:endParaRPr lang="en-US" sz="1300" dirty="0"/>
          </a:p>
        </p:txBody>
      </p:sp>
      <p:sp>
        <p:nvSpPr>
          <p:cNvPr id="18" name="Text 16"/>
          <p:cNvSpPr/>
          <p:nvPr/>
        </p:nvSpPr>
        <p:spPr>
          <a:xfrm>
            <a:off x="3291840" y="4233672"/>
            <a:ext cx="8046720" cy="713232"/>
          </a:xfrm>
          <a:prstGeom prst="rect">
            <a:avLst/>
          </a:prstGeom>
          <a:noFill/>
          <a:ln/>
        </p:spPr>
        <p:txBody>
          <a:bodyPr wrap="square" rtlCol="0" anchor="ctr"/>
          <a:lstStyle/>
          <a:p>
            <a:pPr marL="0" indent="0">
              <a:buNone/>
            </a:pPr>
            <a:r>
              <a:rPr lang="en-US" sz="1350" dirty="0">
                <a:solidFill>
                  <a:srgbClr val="FFFFFF"/>
                </a:solidFill>
                <a:latin typeface="Calibri" pitchFamily="34" charset="0"/>
                <a:ea typeface="Calibri" pitchFamily="34" charset="-122"/>
                <a:cs typeface="Calibri" pitchFamily="34" charset="-120"/>
              </a:rPr>
              <a:t>JWT-based secure login &amp; role-based access</a:t>
            </a:r>
            <a:endParaRPr lang="en-US" sz="1350" dirty="0"/>
          </a:p>
        </p:txBody>
      </p:sp>
      <p:sp>
        <p:nvSpPr>
          <p:cNvPr id="19" name="Shape 17"/>
          <p:cNvSpPr/>
          <p:nvPr/>
        </p:nvSpPr>
        <p:spPr>
          <a:xfrm>
            <a:off x="640080" y="5020056"/>
            <a:ext cx="10881360" cy="713232"/>
          </a:xfrm>
          <a:prstGeom prst="roundRect">
            <a:avLst>
              <a:gd name="adj" fmla="val 7692"/>
            </a:avLst>
          </a:prstGeom>
          <a:solidFill>
            <a:srgbClr val="2C3A8C"/>
          </a:solidFill>
          <a:ln/>
        </p:spPr>
      </p:sp>
      <p:sp>
        <p:nvSpPr>
          <p:cNvPr id="20" name="Shape 18"/>
          <p:cNvSpPr/>
          <p:nvPr/>
        </p:nvSpPr>
        <p:spPr>
          <a:xfrm>
            <a:off x="640080" y="5020056"/>
            <a:ext cx="2377440" cy="713232"/>
          </a:xfrm>
          <a:prstGeom prst="roundRect">
            <a:avLst>
              <a:gd name="adj" fmla="val 7692"/>
            </a:avLst>
          </a:prstGeom>
          <a:solidFill>
            <a:srgbClr val="C9A24B"/>
          </a:solidFill>
          <a:ln/>
        </p:spPr>
      </p:sp>
      <p:sp>
        <p:nvSpPr>
          <p:cNvPr id="21" name="Text 19"/>
          <p:cNvSpPr/>
          <p:nvPr/>
        </p:nvSpPr>
        <p:spPr>
          <a:xfrm>
            <a:off x="868680" y="5020056"/>
            <a:ext cx="1920240" cy="713232"/>
          </a:xfrm>
          <a:prstGeom prst="rect">
            <a:avLst/>
          </a:prstGeom>
          <a:noFill/>
          <a:ln/>
        </p:spPr>
        <p:txBody>
          <a:bodyPr wrap="square" rtlCol="0" anchor="ctr"/>
          <a:lstStyle/>
          <a:p>
            <a:pPr marL="0" indent="0">
              <a:buNone/>
            </a:pPr>
            <a:r>
              <a:rPr lang="en-US" sz="1300" b="1" dirty="0">
                <a:solidFill>
                  <a:srgbClr val="1E2761"/>
                </a:solidFill>
                <a:latin typeface="Cambria" pitchFamily="34" charset="0"/>
                <a:ea typeface="Cambria" pitchFamily="34" charset="-122"/>
                <a:cs typeface="Cambria" pitchFamily="34" charset="-120"/>
              </a:rPr>
              <a:t>VERSION CONTROL</a:t>
            </a:r>
            <a:endParaRPr lang="en-US" sz="1300" dirty="0"/>
          </a:p>
        </p:txBody>
      </p:sp>
      <p:sp>
        <p:nvSpPr>
          <p:cNvPr id="22" name="Text 20"/>
          <p:cNvSpPr/>
          <p:nvPr/>
        </p:nvSpPr>
        <p:spPr>
          <a:xfrm>
            <a:off x="3291840" y="5020056"/>
            <a:ext cx="8046720" cy="713232"/>
          </a:xfrm>
          <a:prstGeom prst="rect">
            <a:avLst/>
          </a:prstGeom>
          <a:noFill/>
          <a:ln/>
        </p:spPr>
        <p:txBody>
          <a:bodyPr wrap="square" rtlCol="0" anchor="ctr"/>
          <a:lstStyle/>
          <a:p>
            <a:pPr marL="0" indent="0">
              <a:buNone/>
            </a:pPr>
            <a:r>
              <a:rPr lang="en-US" sz="1350" dirty="0">
                <a:solidFill>
                  <a:srgbClr val="FFFFFF"/>
                </a:solidFill>
                <a:latin typeface="Calibri" pitchFamily="34" charset="0"/>
                <a:ea typeface="Calibri" pitchFamily="34" charset="-122"/>
                <a:cs typeface="Calibri" pitchFamily="34" charset="-120"/>
              </a:rPr>
              <a:t>Git &amp; GitHub</a:t>
            </a:r>
            <a:endParaRPr lang="en-US" sz="1350" dirty="0"/>
          </a:p>
        </p:txBody>
      </p:sp>
      <p:sp>
        <p:nvSpPr>
          <p:cNvPr id="23" name="Shape 21"/>
          <p:cNvSpPr/>
          <p:nvPr/>
        </p:nvSpPr>
        <p:spPr>
          <a:xfrm>
            <a:off x="640080" y="5806440"/>
            <a:ext cx="10881360" cy="713232"/>
          </a:xfrm>
          <a:prstGeom prst="roundRect">
            <a:avLst>
              <a:gd name="adj" fmla="val 7692"/>
            </a:avLst>
          </a:prstGeom>
          <a:solidFill>
            <a:srgbClr val="1E2761"/>
          </a:solidFill>
          <a:ln/>
        </p:spPr>
      </p:sp>
      <p:sp>
        <p:nvSpPr>
          <p:cNvPr id="24" name="Shape 22"/>
          <p:cNvSpPr/>
          <p:nvPr/>
        </p:nvSpPr>
        <p:spPr>
          <a:xfrm>
            <a:off x="640080" y="5806440"/>
            <a:ext cx="2377440" cy="713232"/>
          </a:xfrm>
          <a:prstGeom prst="roundRect">
            <a:avLst>
              <a:gd name="adj" fmla="val 7692"/>
            </a:avLst>
          </a:prstGeom>
          <a:solidFill>
            <a:srgbClr val="C9A24B"/>
          </a:solidFill>
          <a:ln/>
        </p:spPr>
      </p:sp>
      <p:sp>
        <p:nvSpPr>
          <p:cNvPr id="25" name="Text 23"/>
          <p:cNvSpPr/>
          <p:nvPr/>
        </p:nvSpPr>
        <p:spPr>
          <a:xfrm>
            <a:off x="868680" y="5806440"/>
            <a:ext cx="1920240" cy="713232"/>
          </a:xfrm>
          <a:prstGeom prst="rect">
            <a:avLst/>
          </a:prstGeom>
          <a:noFill/>
          <a:ln/>
        </p:spPr>
        <p:txBody>
          <a:bodyPr wrap="square" rtlCol="0" anchor="ctr"/>
          <a:lstStyle/>
          <a:p>
            <a:pPr marL="0" indent="0">
              <a:buNone/>
            </a:pPr>
            <a:r>
              <a:rPr lang="en-US" sz="1300" b="1" dirty="0">
                <a:solidFill>
                  <a:srgbClr val="1E2761"/>
                </a:solidFill>
                <a:latin typeface="Cambria" pitchFamily="34" charset="0"/>
                <a:ea typeface="Cambria" pitchFamily="34" charset="-122"/>
                <a:cs typeface="Cambria" pitchFamily="34" charset="-120"/>
              </a:rPr>
              <a:t>TOOLS &amp; IDE</a:t>
            </a:r>
            <a:endParaRPr lang="en-US" sz="1300" dirty="0"/>
          </a:p>
        </p:txBody>
      </p:sp>
      <p:sp>
        <p:nvSpPr>
          <p:cNvPr id="26" name="Text 24"/>
          <p:cNvSpPr/>
          <p:nvPr/>
        </p:nvSpPr>
        <p:spPr>
          <a:xfrm>
            <a:off x="3291840" y="5806440"/>
            <a:ext cx="8046720" cy="713232"/>
          </a:xfrm>
          <a:prstGeom prst="rect">
            <a:avLst/>
          </a:prstGeom>
          <a:noFill/>
          <a:ln/>
        </p:spPr>
        <p:txBody>
          <a:bodyPr wrap="square" rtlCol="0" anchor="ctr"/>
          <a:lstStyle/>
          <a:p>
            <a:pPr marL="0" indent="0">
              <a:buNone/>
            </a:pPr>
            <a:r>
              <a:rPr lang="en-US" sz="1350" dirty="0">
                <a:solidFill>
                  <a:srgbClr val="FFFFFF"/>
                </a:solidFill>
                <a:latin typeface="Calibri" pitchFamily="34" charset="0"/>
                <a:ea typeface="Calibri" pitchFamily="34" charset="-122"/>
                <a:cs typeface="Calibri" pitchFamily="34" charset="-120"/>
              </a:rPr>
              <a:t>VS Code, Postman, XAMPP / MySQL Workbench</a:t>
            </a:r>
            <a:endParaRPr lang="en-US" sz="1350" dirty="0"/>
          </a:p>
        </p:txBody>
      </p:sp>
      <p:sp>
        <p:nvSpPr>
          <p:cNvPr id="27" name="Text 25"/>
          <p:cNvSpPr/>
          <p:nvPr/>
        </p:nvSpPr>
        <p:spPr>
          <a:xfrm>
            <a:off x="11521440" y="6473952"/>
            <a:ext cx="548640" cy="274320"/>
          </a:xfrm>
          <a:prstGeom prst="rect">
            <a:avLst/>
          </a:prstGeom>
          <a:noFill/>
          <a:ln/>
        </p:spPr>
        <p:txBody>
          <a:bodyPr wrap="square"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05</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8229600" cy="640080"/>
          </a:xfrm>
          <a:prstGeom prst="rect">
            <a:avLst/>
          </a:prstGeom>
          <a:noFill/>
          <a:ln/>
        </p:spPr>
        <p:txBody>
          <a:bodyPr wrap="square" rtlCol="0" anchor="ctr"/>
          <a:lstStyle/>
          <a:p>
            <a:pPr marL="0" indent="0">
              <a:buNone/>
            </a:pPr>
            <a:r>
              <a:rPr lang="en-US" sz="3400" b="1" dirty="0">
                <a:solidFill>
                  <a:srgbClr val="1E2761"/>
                </a:solidFill>
                <a:latin typeface="Cambria" pitchFamily="34" charset="0"/>
                <a:ea typeface="Cambria" pitchFamily="34" charset="-122"/>
                <a:cs typeface="Cambria" pitchFamily="34" charset="-120"/>
              </a:rPr>
              <a:t>Expected Outcome</a:t>
            </a:r>
            <a:endParaRPr lang="en-US" sz="3400" dirty="0"/>
          </a:p>
        </p:txBody>
      </p:sp>
      <p:sp>
        <p:nvSpPr>
          <p:cNvPr id="3" name="Shape 1"/>
          <p:cNvSpPr/>
          <p:nvPr/>
        </p:nvSpPr>
        <p:spPr>
          <a:xfrm>
            <a:off x="9966960" y="457200"/>
            <a:ext cx="1005840" cy="1005840"/>
          </a:xfrm>
          <a:prstGeom prst="ellipse">
            <a:avLst/>
          </a:prstGeom>
          <a:solidFill>
            <a:srgbClr val="C9A24B"/>
          </a:solidFill>
          <a:ln/>
        </p:spPr>
      </p:sp>
      <p:pic>
        <p:nvPicPr>
          <p:cNvPr id="4" name="Image 0" descr="trending.png"/>
          <p:cNvPicPr>
            <a:picLocks noChangeAspect="1"/>
          </p:cNvPicPr>
          <p:nvPr/>
        </p:nvPicPr>
        <p:blipFill>
          <a:blip r:embed="rId3"/>
          <a:stretch>
            <a:fillRect/>
          </a:stretch>
        </p:blipFill>
        <p:spPr>
          <a:xfrm>
            <a:off x="10228478" y="718718"/>
            <a:ext cx="482803" cy="482803"/>
          </a:xfrm>
          <a:prstGeom prst="rect">
            <a:avLst/>
          </a:prstGeom>
        </p:spPr>
      </p:pic>
      <p:sp>
        <p:nvSpPr>
          <p:cNvPr id="5" name="Shape 2"/>
          <p:cNvSpPr/>
          <p:nvPr/>
        </p:nvSpPr>
        <p:spPr>
          <a:xfrm>
            <a:off x="640080" y="1965960"/>
            <a:ext cx="438912" cy="438912"/>
          </a:xfrm>
          <a:prstGeom prst="ellipse">
            <a:avLst/>
          </a:prstGeom>
          <a:solidFill>
            <a:srgbClr val="1E2761"/>
          </a:solidFill>
          <a:ln/>
        </p:spPr>
      </p:sp>
      <p:pic>
        <p:nvPicPr>
          <p:cNvPr id="6" name="Image 1" descr="check.png"/>
          <p:cNvPicPr>
            <a:picLocks noChangeAspect="1"/>
          </p:cNvPicPr>
          <p:nvPr/>
        </p:nvPicPr>
        <p:blipFill>
          <a:blip r:embed="rId4"/>
          <a:stretch>
            <a:fillRect/>
          </a:stretch>
        </p:blipFill>
        <p:spPr>
          <a:xfrm>
            <a:off x="754197" y="2080077"/>
            <a:ext cx="210678" cy="210678"/>
          </a:xfrm>
          <a:prstGeom prst="rect">
            <a:avLst/>
          </a:prstGeom>
        </p:spPr>
      </p:pic>
      <p:sp>
        <p:nvSpPr>
          <p:cNvPr id="7" name="Text 3"/>
          <p:cNvSpPr/>
          <p:nvPr/>
        </p:nvSpPr>
        <p:spPr>
          <a:xfrm>
            <a:off x="1280160" y="1911096"/>
            <a:ext cx="10241280" cy="640080"/>
          </a:xfrm>
          <a:prstGeom prst="rect">
            <a:avLst/>
          </a:prstGeom>
          <a:noFill/>
          <a:ln/>
        </p:spPr>
        <p:txBody>
          <a:bodyPr wrap="square" rtlCol="0" anchor="ctr"/>
          <a:lstStyle/>
          <a:p>
            <a:pPr marL="0" indent="0">
              <a:lnSpc>
                <a:spcPts val="1600"/>
              </a:lnSpc>
              <a:buNone/>
            </a:pPr>
            <a:r>
              <a:rPr lang="en-US" sz="1350" dirty="0">
                <a:solidFill>
                  <a:srgbClr val="1B1B2A"/>
                </a:solidFill>
                <a:latin typeface="Calibri" pitchFamily="34" charset="0"/>
                <a:ea typeface="Calibri" pitchFamily="34" charset="-122"/>
                <a:cs typeface="Calibri" pitchFamily="34" charset="-120"/>
              </a:rPr>
              <a:t>A fully functional, web-based Insurance Policy Management System with secure role-based access for Admins, Agents, and Customers.</a:t>
            </a:r>
            <a:endParaRPr lang="en-US" sz="1350" dirty="0"/>
          </a:p>
        </p:txBody>
      </p:sp>
      <p:sp>
        <p:nvSpPr>
          <p:cNvPr id="8" name="Shape 4"/>
          <p:cNvSpPr/>
          <p:nvPr/>
        </p:nvSpPr>
        <p:spPr>
          <a:xfrm>
            <a:off x="640080" y="2679192"/>
            <a:ext cx="438912" cy="438912"/>
          </a:xfrm>
          <a:prstGeom prst="ellipse">
            <a:avLst/>
          </a:prstGeom>
          <a:solidFill>
            <a:srgbClr val="1E2761"/>
          </a:solidFill>
          <a:ln/>
        </p:spPr>
      </p:sp>
      <p:pic>
        <p:nvPicPr>
          <p:cNvPr id="9" name="Image 2" descr="check.png"/>
          <p:cNvPicPr>
            <a:picLocks noChangeAspect="1"/>
          </p:cNvPicPr>
          <p:nvPr/>
        </p:nvPicPr>
        <p:blipFill>
          <a:blip r:embed="rId4"/>
          <a:stretch>
            <a:fillRect/>
          </a:stretch>
        </p:blipFill>
        <p:spPr>
          <a:xfrm>
            <a:off x="754197" y="2793309"/>
            <a:ext cx="210678" cy="210678"/>
          </a:xfrm>
          <a:prstGeom prst="rect">
            <a:avLst/>
          </a:prstGeom>
        </p:spPr>
      </p:pic>
      <p:sp>
        <p:nvSpPr>
          <p:cNvPr id="10" name="Text 5"/>
          <p:cNvSpPr/>
          <p:nvPr/>
        </p:nvSpPr>
        <p:spPr>
          <a:xfrm>
            <a:off x="1280160" y="2624328"/>
            <a:ext cx="10241280" cy="640080"/>
          </a:xfrm>
          <a:prstGeom prst="rect">
            <a:avLst/>
          </a:prstGeom>
          <a:noFill/>
          <a:ln/>
        </p:spPr>
        <p:txBody>
          <a:bodyPr wrap="square" rtlCol="0" anchor="ctr"/>
          <a:lstStyle/>
          <a:p>
            <a:pPr marL="0" indent="0">
              <a:lnSpc>
                <a:spcPts val="1600"/>
              </a:lnSpc>
              <a:buNone/>
            </a:pPr>
            <a:r>
              <a:rPr lang="en-US" sz="1350" dirty="0">
                <a:solidFill>
                  <a:srgbClr val="1B1B2A"/>
                </a:solidFill>
                <a:latin typeface="Calibri" pitchFamily="34" charset="0"/>
                <a:ea typeface="Calibri" pitchFamily="34" charset="-122"/>
                <a:cs typeface="Calibri" pitchFamily="34" charset="-120"/>
              </a:rPr>
              <a:t>Reduced manual effort and paperwork through end-to-end digital policy issuance, renewal, and claims workflows.</a:t>
            </a:r>
            <a:endParaRPr lang="en-US" sz="1350" dirty="0"/>
          </a:p>
        </p:txBody>
      </p:sp>
      <p:sp>
        <p:nvSpPr>
          <p:cNvPr id="11" name="Shape 6"/>
          <p:cNvSpPr/>
          <p:nvPr/>
        </p:nvSpPr>
        <p:spPr>
          <a:xfrm>
            <a:off x="640080" y="3392424"/>
            <a:ext cx="438912" cy="438912"/>
          </a:xfrm>
          <a:prstGeom prst="ellipse">
            <a:avLst/>
          </a:prstGeom>
          <a:solidFill>
            <a:srgbClr val="1E2761"/>
          </a:solidFill>
          <a:ln/>
        </p:spPr>
      </p:sp>
      <p:pic>
        <p:nvPicPr>
          <p:cNvPr id="12" name="Image 3" descr="check.png"/>
          <p:cNvPicPr>
            <a:picLocks noChangeAspect="1"/>
          </p:cNvPicPr>
          <p:nvPr/>
        </p:nvPicPr>
        <p:blipFill>
          <a:blip r:embed="rId4"/>
          <a:stretch>
            <a:fillRect/>
          </a:stretch>
        </p:blipFill>
        <p:spPr>
          <a:xfrm>
            <a:off x="754197" y="3506541"/>
            <a:ext cx="210678" cy="210678"/>
          </a:xfrm>
          <a:prstGeom prst="rect">
            <a:avLst/>
          </a:prstGeom>
        </p:spPr>
      </p:pic>
      <p:sp>
        <p:nvSpPr>
          <p:cNvPr id="13" name="Text 7"/>
          <p:cNvSpPr/>
          <p:nvPr/>
        </p:nvSpPr>
        <p:spPr>
          <a:xfrm>
            <a:off x="1280160" y="3337560"/>
            <a:ext cx="10241280" cy="640080"/>
          </a:xfrm>
          <a:prstGeom prst="rect">
            <a:avLst/>
          </a:prstGeom>
          <a:noFill/>
          <a:ln/>
        </p:spPr>
        <p:txBody>
          <a:bodyPr wrap="square" rtlCol="0" anchor="ctr"/>
          <a:lstStyle/>
          <a:p>
            <a:pPr marL="0" indent="0">
              <a:lnSpc>
                <a:spcPts val="1600"/>
              </a:lnSpc>
              <a:buNone/>
            </a:pPr>
            <a:r>
              <a:rPr lang="en-US" sz="1350" dirty="0">
                <a:solidFill>
                  <a:srgbClr val="1B1B2A"/>
                </a:solidFill>
                <a:latin typeface="Calibri" pitchFamily="34" charset="0"/>
                <a:ea typeface="Calibri" pitchFamily="34" charset="-122"/>
                <a:cs typeface="Calibri" pitchFamily="34" charset="-120"/>
              </a:rPr>
              <a:t>Faster, transparent claims processing with real-time status tracking for policyholders.</a:t>
            </a:r>
            <a:endParaRPr lang="en-US" sz="1350" dirty="0"/>
          </a:p>
        </p:txBody>
      </p:sp>
      <p:sp>
        <p:nvSpPr>
          <p:cNvPr id="14" name="Shape 8"/>
          <p:cNvSpPr/>
          <p:nvPr/>
        </p:nvSpPr>
        <p:spPr>
          <a:xfrm>
            <a:off x="640080" y="4105656"/>
            <a:ext cx="438912" cy="438912"/>
          </a:xfrm>
          <a:prstGeom prst="ellipse">
            <a:avLst/>
          </a:prstGeom>
          <a:solidFill>
            <a:srgbClr val="1E2761"/>
          </a:solidFill>
          <a:ln/>
        </p:spPr>
      </p:sp>
      <p:pic>
        <p:nvPicPr>
          <p:cNvPr id="15" name="Image 4" descr="check.png"/>
          <p:cNvPicPr>
            <a:picLocks noChangeAspect="1"/>
          </p:cNvPicPr>
          <p:nvPr/>
        </p:nvPicPr>
        <p:blipFill>
          <a:blip r:embed="rId4"/>
          <a:stretch>
            <a:fillRect/>
          </a:stretch>
        </p:blipFill>
        <p:spPr>
          <a:xfrm>
            <a:off x="754197" y="4219773"/>
            <a:ext cx="210678" cy="210678"/>
          </a:xfrm>
          <a:prstGeom prst="rect">
            <a:avLst/>
          </a:prstGeom>
        </p:spPr>
      </p:pic>
      <p:sp>
        <p:nvSpPr>
          <p:cNvPr id="16" name="Text 9"/>
          <p:cNvSpPr/>
          <p:nvPr/>
        </p:nvSpPr>
        <p:spPr>
          <a:xfrm>
            <a:off x="1280160" y="4050792"/>
            <a:ext cx="10241280" cy="640080"/>
          </a:xfrm>
          <a:prstGeom prst="rect">
            <a:avLst/>
          </a:prstGeom>
          <a:noFill/>
          <a:ln/>
        </p:spPr>
        <p:txBody>
          <a:bodyPr wrap="square" rtlCol="0" anchor="ctr"/>
          <a:lstStyle/>
          <a:p>
            <a:pPr marL="0" indent="0">
              <a:lnSpc>
                <a:spcPts val="1600"/>
              </a:lnSpc>
              <a:buNone/>
            </a:pPr>
            <a:r>
              <a:rPr lang="en-US" sz="1350" dirty="0">
                <a:solidFill>
                  <a:srgbClr val="1B1B2A"/>
                </a:solidFill>
                <a:latin typeface="Calibri" pitchFamily="34" charset="0"/>
                <a:ea typeface="Calibri" pitchFamily="34" charset="-122"/>
                <a:cs typeface="Calibri" pitchFamily="34" charset="-120"/>
              </a:rPr>
              <a:t>Centralized and accurate data storage, minimizing errors and enabling quick retrieval of policy records.</a:t>
            </a:r>
            <a:endParaRPr lang="en-US" sz="1350" dirty="0"/>
          </a:p>
        </p:txBody>
      </p:sp>
      <p:sp>
        <p:nvSpPr>
          <p:cNvPr id="17" name="Shape 10"/>
          <p:cNvSpPr/>
          <p:nvPr/>
        </p:nvSpPr>
        <p:spPr>
          <a:xfrm>
            <a:off x="640080" y="4818888"/>
            <a:ext cx="438912" cy="438912"/>
          </a:xfrm>
          <a:prstGeom prst="ellipse">
            <a:avLst/>
          </a:prstGeom>
          <a:solidFill>
            <a:srgbClr val="1E2761"/>
          </a:solidFill>
          <a:ln/>
        </p:spPr>
      </p:sp>
      <p:pic>
        <p:nvPicPr>
          <p:cNvPr id="18" name="Image 5" descr="check.png"/>
          <p:cNvPicPr>
            <a:picLocks noChangeAspect="1"/>
          </p:cNvPicPr>
          <p:nvPr/>
        </p:nvPicPr>
        <p:blipFill>
          <a:blip r:embed="rId4"/>
          <a:stretch>
            <a:fillRect/>
          </a:stretch>
        </p:blipFill>
        <p:spPr>
          <a:xfrm>
            <a:off x="754197" y="4933005"/>
            <a:ext cx="210678" cy="210678"/>
          </a:xfrm>
          <a:prstGeom prst="rect">
            <a:avLst/>
          </a:prstGeom>
        </p:spPr>
      </p:pic>
      <p:sp>
        <p:nvSpPr>
          <p:cNvPr id="19" name="Text 11"/>
          <p:cNvSpPr/>
          <p:nvPr/>
        </p:nvSpPr>
        <p:spPr>
          <a:xfrm>
            <a:off x="1280160" y="4764024"/>
            <a:ext cx="10241280" cy="640080"/>
          </a:xfrm>
          <a:prstGeom prst="rect">
            <a:avLst/>
          </a:prstGeom>
          <a:noFill/>
          <a:ln/>
        </p:spPr>
        <p:txBody>
          <a:bodyPr wrap="square" rtlCol="0" anchor="ctr"/>
          <a:lstStyle/>
          <a:p>
            <a:pPr marL="0" indent="0">
              <a:lnSpc>
                <a:spcPts val="1600"/>
              </a:lnSpc>
              <a:buNone/>
            </a:pPr>
            <a:r>
              <a:rPr lang="en-US" sz="1350" dirty="0">
                <a:solidFill>
                  <a:srgbClr val="1B1B2A"/>
                </a:solidFill>
                <a:latin typeface="Calibri" pitchFamily="34" charset="0"/>
                <a:ea typeface="Calibri" pitchFamily="34" charset="-122"/>
                <a:cs typeface="Calibri" pitchFamily="34" charset="-120"/>
              </a:rPr>
              <a:t>Improved customer satisfaction through timely renewal reminders and a self-service online portal.</a:t>
            </a:r>
            <a:endParaRPr lang="en-US" sz="1350" dirty="0"/>
          </a:p>
        </p:txBody>
      </p:sp>
      <p:sp>
        <p:nvSpPr>
          <p:cNvPr id="20" name="Shape 12"/>
          <p:cNvSpPr/>
          <p:nvPr/>
        </p:nvSpPr>
        <p:spPr>
          <a:xfrm>
            <a:off x="640080" y="5532120"/>
            <a:ext cx="438912" cy="438912"/>
          </a:xfrm>
          <a:prstGeom prst="ellipse">
            <a:avLst/>
          </a:prstGeom>
          <a:solidFill>
            <a:srgbClr val="1E2761"/>
          </a:solidFill>
          <a:ln/>
        </p:spPr>
      </p:sp>
      <p:pic>
        <p:nvPicPr>
          <p:cNvPr id="21" name="Image 6" descr="check.png"/>
          <p:cNvPicPr>
            <a:picLocks noChangeAspect="1"/>
          </p:cNvPicPr>
          <p:nvPr/>
        </p:nvPicPr>
        <p:blipFill>
          <a:blip r:embed="rId4"/>
          <a:stretch>
            <a:fillRect/>
          </a:stretch>
        </p:blipFill>
        <p:spPr>
          <a:xfrm>
            <a:off x="754197" y="5646237"/>
            <a:ext cx="210678" cy="210678"/>
          </a:xfrm>
          <a:prstGeom prst="rect">
            <a:avLst/>
          </a:prstGeom>
        </p:spPr>
      </p:pic>
      <p:sp>
        <p:nvSpPr>
          <p:cNvPr id="22" name="Text 13"/>
          <p:cNvSpPr/>
          <p:nvPr/>
        </p:nvSpPr>
        <p:spPr>
          <a:xfrm>
            <a:off x="1280160" y="5477256"/>
            <a:ext cx="10241280" cy="640080"/>
          </a:xfrm>
          <a:prstGeom prst="rect">
            <a:avLst/>
          </a:prstGeom>
          <a:noFill/>
          <a:ln/>
        </p:spPr>
        <p:txBody>
          <a:bodyPr wrap="square" rtlCol="0" anchor="ctr"/>
          <a:lstStyle/>
          <a:p>
            <a:pPr marL="0" indent="0">
              <a:lnSpc>
                <a:spcPts val="1600"/>
              </a:lnSpc>
              <a:buNone/>
            </a:pPr>
            <a:r>
              <a:rPr lang="en-US" sz="1350" dirty="0">
                <a:solidFill>
                  <a:srgbClr val="1B1B2A"/>
                </a:solidFill>
                <a:latin typeface="Calibri" pitchFamily="34" charset="0"/>
                <a:ea typeface="Calibri" pitchFamily="34" charset="-122"/>
                <a:cs typeface="Calibri" pitchFamily="34" charset="-120"/>
              </a:rPr>
              <a:t>Actionable insights for management via analytical dashboards on sales, claims, and revenue trends.</a:t>
            </a:r>
            <a:endParaRPr lang="en-US" sz="1350" dirty="0"/>
          </a:p>
        </p:txBody>
      </p:sp>
      <p:sp>
        <p:nvSpPr>
          <p:cNvPr id="23" name="Text 14"/>
          <p:cNvSpPr/>
          <p:nvPr/>
        </p:nvSpPr>
        <p:spPr>
          <a:xfrm>
            <a:off x="11521440" y="6473952"/>
            <a:ext cx="548640" cy="274320"/>
          </a:xfrm>
          <a:prstGeom prst="rect">
            <a:avLst/>
          </a:prstGeom>
          <a:noFill/>
          <a:ln/>
        </p:spPr>
        <p:txBody>
          <a:bodyPr wrap="square"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06</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9984EC5-B184-E6A4-2DEA-1072DC8C0584}"/>
              </a:ext>
            </a:extLst>
          </p:cNvPr>
          <p:cNvSpPr txBox="1"/>
          <p:nvPr/>
        </p:nvSpPr>
        <p:spPr>
          <a:xfrm>
            <a:off x="3801979" y="2743200"/>
            <a:ext cx="4253857" cy="1323439"/>
          </a:xfrm>
          <a:prstGeom prst="rect">
            <a:avLst/>
          </a:prstGeom>
          <a:noFill/>
        </p:spPr>
        <p:txBody>
          <a:bodyPr wrap="none" rtlCol="0">
            <a:spAutoFit/>
          </a:bodyPr>
          <a:lstStyle/>
          <a:p>
            <a:r>
              <a:rPr lang="en-US" sz="8000" dirty="0"/>
              <a:t>Thankyou</a:t>
            </a:r>
            <a:endParaRPr lang="en-IN" sz="8000" dirty="0"/>
          </a:p>
        </p:txBody>
      </p:sp>
    </p:spTree>
    <p:extLst>
      <p:ext uri="{BB962C8B-B14F-4D97-AF65-F5344CB8AC3E}">
        <p14:creationId xmlns:p14="http://schemas.microsoft.com/office/powerpoint/2010/main" val="29994039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TotalTime>
  <Words>611</Words>
  <Application>Microsoft Office PowerPoint</Application>
  <PresentationFormat>Widescreen</PresentationFormat>
  <Paragraphs>82</Paragraphs>
  <Slides>9</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sandeepyadav135360@outlook.com</cp:lastModifiedBy>
  <cp:revision>2</cp:revision>
  <dcterms:created xsi:type="dcterms:W3CDTF">2026-08-14T03:37:25Z</dcterms:created>
  <dcterms:modified xsi:type="dcterms:W3CDTF">2026-10-03T03:24:56Z</dcterms:modified>
</cp:coreProperties>
</file>